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9" d="100"/>
          <a:sy n="89"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3B91411-BCA1-431B-946C-ED5C58834C48}"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1703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spTree>
    <p:extLst>
      <p:ext uri="{BB962C8B-B14F-4D97-AF65-F5344CB8AC3E}">
        <p14:creationId xmlns:p14="http://schemas.microsoft.com/office/powerpoint/2010/main" val="3708942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2921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BA2D0F-F990-40CD-BD8A-4E64C419A436}"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B91411-BCA1-431B-946C-ED5C58834C48}" type="slidenum">
              <a:rPr lang="en-US" smtClean="0"/>
              <a:t>‹#›</a:t>
            </a:fld>
            <a:endParaRPr lang="en-US"/>
          </a:p>
        </p:txBody>
      </p:sp>
    </p:spTree>
    <p:extLst>
      <p:ext uri="{BB962C8B-B14F-4D97-AF65-F5344CB8AC3E}">
        <p14:creationId xmlns:p14="http://schemas.microsoft.com/office/powerpoint/2010/main" val="2870122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BA2D0F-F990-40CD-BD8A-4E64C419A436}"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B91411-BCA1-431B-946C-ED5C58834C48}"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6336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BA2D0F-F990-40CD-BD8A-4E64C419A436}"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B91411-BCA1-431B-946C-ED5C58834C4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434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BA2D0F-F990-40CD-BD8A-4E64C419A436}"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B91411-BCA1-431B-946C-ED5C58834C48}" type="slidenum">
              <a:rPr lang="en-US" smtClean="0"/>
              <a:t>‹#›</a:t>
            </a:fld>
            <a:endParaRPr lang="en-US"/>
          </a:p>
        </p:txBody>
      </p:sp>
    </p:spTree>
    <p:extLst>
      <p:ext uri="{BB962C8B-B14F-4D97-AF65-F5344CB8AC3E}">
        <p14:creationId xmlns:p14="http://schemas.microsoft.com/office/powerpoint/2010/main" val="1527048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BA2D0F-F990-40CD-BD8A-4E64C419A436}"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B91411-BCA1-431B-946C-ED5C58834C48}"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8866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BA2D0F-F990-40CD-BD8A-4E64C419A436}"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B91411-BCA1-431B-946C-ED5C58834C48}" type="slidenum">
              <a:rPr lang="en-US" smtClean="0"/>
              <a:t>‹#›</a:t>
            </a:fld>
            <a:endParaRPr lang="en-US"/>
          </a:p>
        </p:txBody>
      </p:sp>
    </p:spTree>
    <p:extLst>
      <p:ext uri="{BB962C8B-B14F-4D97-AF65-F5344CB8AC3E}">
        <p14:creationId xmlns:p14="http://schemas.microsoft.com/office/powerpoint/2010/main" val="4246938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BA2D0F-F990-40CD-BD8A-4E64C419A436}"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B91411-BCA1-431B-946C-ED5C58834C48}" type="slidenum">
              <a:rPr lang="en-US" smtClean="0"/>
              <a:t>‹#›</a:t>
            </a:fld>
            <a:endParaRPr lang="en-US"/>
          </a:p>
        </p:txBody>
      </p:sp>
    </p:spTree>
    <p:extLst>
      <p:ext uri="{BB962C8B-B14F-4D97-AF65-F5344CB8AC3E}">
        <p14:creationId xmlns:p14="http://schemas.microsoft.com/office/powerpoint/2010/main" val="297346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7042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2164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spTree>
    <p:extLst>
      <p:ext uri="{BB962C8B-B14F-4D97-AF65-F5344CB8AC3E}">
        <p14:creationId xmlns:p14="http://schemas.microsoft.com/office/powerpoint/2010/main" val="16339539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9292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0360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3287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BA2D0F-F990-40CD-BD8A-4E64C419A436}"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91411-BCA1-431B-946C-ED5C58834C48}"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0569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BA2D0F-F990-40CD-BD8A-4E64C419A436}" type="datetimeFigureOut">
              <a:rPr lang="en-US" smtClean="0"/>
              <a:t>6/28/2026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3B91411-BCA1-431B-946C-ED5C58834C48}" type="slidenum">
              <a:rPr lang="en-US" smtClean="0"/>
              <a:t>‹#›</a:t>
            </a:fld>
            <a:endParaRPr lang="en-US"/>
          </a:p>
        </p:txBody>
      </p:sp>
    </p:spTree>
    <p:extLst>
      <p:ext uri="{BB962C8B-B14F-4D97-AF65-F5344CB8AC3E}">
        <p14:creationId xmlns:p14="http://schemas.microsoft.com/office/powerpoint/2010/main" val="2654956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973C0-5D23-40BD-A3A9-BF1E5A23DC28}"/>
              </a:ext>
            </a:extLst>
          </p:cNvPr>
          <p:cNvSpPr>
            <a:spLocks noGrp="1"/>
          </p:cNvSpPr>
          <p:nvPr>
            <p:ph type="ctrTitle"/>
          </p:nvPr>
        </p:nvSpPr>
        <p:spPr>
          <a:xfrm>
            <a:off x="1524000" y="150607"/>
            <a:ext cx="9144000" cy="1131346"/>
          </a:xfrm>
        </p:spPr>
        <p:txBody>
          <a:bodyPr>
            <a:normAutofit/>
          </a:bodyPr>
          <a:lstStyle/>
          <a:p>
            <a:r>
              <a:rPr lang="en-US" sz="2400" b="1" dirty="0">
                <a:latin typeface="Agency FB" panose="020B0503020202020204" pitchFamily="34" charset="0"/>
                <a:cs typeface="Times New Roman" panose="02020603050405020304" pitchFamily="18" charset="0"/>
              </a:rPr>
              <a:t>RETAIL STORE INVENTORY FORECAST AN STOCKOUT RISK ANALYSIS</a:t>
            </a:r>
          </a:p>
        </p:txBody>
      </p:sp>
      <p:sp>
        <p:nvSpPr>
          <p:cNvPr id="3" name="Subtitle 2">
            <a:extLst>
              <a:ext uri="{FF2B5EF4-FFF2-40B4-BE49-F238E27FC236}">
                <a16:creationId xmlns:a16="http://schemas.microsoft.com/office/drawing/2014/main" id="{F4003F77-B2A2-4D9D-8368-1E435CA685F8}"/>
              </a:ext>
            </a:extLst>
          </p:cNvPr>
          <p:cNvSpPr>
            <a:spLocks noGrp="1"/>
          </p:cNvSpPr>
          <p:nvPr>
            <p:ph type="subTitle" idx="1"/>
          </p:nvPr>
        </p:nvSpPr>
        <p:spPr>
          <a:xfrm>
            <a:off x="2485016" y="2108499"/>
            <a:ext cx="7121563" cy="1430767"/>
          </a:xfrm>
        </p:spPr>
        <p:txBody>
          <a:bodyPr>
            <a:noAutofit/>
          </a:bodyPr>
          <a:lstStyle/>
          <a:p>
            <a:r>
              <a:rPr lang="en-US" sz="2400" b="1" dirty="0">
                <a:latin typeface="Agency FB" panose="020B0503020202020204" pitchFamily="34" charset="0"/>
                <a:cs typeface="Times New Roman" panose="02020603050405020304" pitchFamily="18" charset="0"/>
              </a:rPr>
              <a:t>DATA ANALYSIS PROJECT</a:t>
            </a:r>
          </a:p>
          <a:p>
            <a:r>
              <a:rPr lang="en-US" sz="2400" b="1" dirty="0">
                <a:latin typeface="Agency FB" panose="020B0503020202020204" pitchFamily="34" charset="0"/>
                <a:cs typeface="Times New Roman" panose="02020603050405020304" pitchFamily="18" charset="0"/>
              </a:rPr>
              <a:t>OBASI PASCHAL</a:t>
            </a:r>
          </a:p>
          <a:p>
            <a:r>
              <a:rPr lang="en-US" sz="2400" b="1" dirty="0">
                <a:latin typeface="Agency FB" panose="020B0503020202020204" pitchFamily="34" charset="0"/>
                <a:cs typeface="Times New Roman" panose="02020603050405020304" pitchFamily="18" charset="0"/>
              </a:rPr>
              <a:t>28.06.2026</a:t>
            </a:r>
          </a:p>
        </p:txBody>
      </p:sp>
      <p:sp>
        <p:nvSpPr>
          <p:cNvPr id="4" name="Subtitle 2">
            <a:extLst>
              <a:ext uri="{FF2B5EF4-FFF2-40B4-BE49-F238E27FC236}">
                <a16:creationId xmlns:a16="http://schemas.microsoft.com/office/drawing/2014/main" id="{677DF2EF-84AA-41B2-A44F-D34EDEDF930D}"/>
              </a:ext>
            </a:extLst>
          </p:cNvPr>
          <p:cNvSpPr txBox="1">
            <a:spLocks/>
          </p:cNvSpPr>
          <p:nvPr/>
        </p:nvSpPr>
        <p:spPr>
          <a:xfrm>
            <a:off x="1676400" y="2293172"/>
            <a:ext cx="9144000" cy="143076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E24CB517-415F-47E3-B949-D9F43602C296}"/>
              </a:ext>
            </a:extLst>
          </p:cNvPr>
          <p:cNvSpPr txBox="1">
            <a:spLocks/>
          </p:cNvSpPr>
          <p:nvPr/>
        </p:nvSpPr>
        <p:spPr>
          <a:xfrm>
            <a:off x="1676400" y="2260899"/>
            <a:ext cx="9144000" cy="143076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6" name="Subtitle 2">
            <a:extLst>
              <a:ext uri="{FF2B5EF4-FFF2-40B4-BE49-F238E27FC236}">
                <a16:creationId xmlns:a16="http://schemas.microsoft.com/office/drawing/2014/main" id="{56828FF6-2662-4047-919A-2B7D90BA07E7}"/>
              </a:ext>
            </a:extLst>
          </p:cNvPr>
          <p:cNvSpPr txBox="1">
            <a:spLocks/>
          </p:cNvSpPr>
          <p:nvPr/>
        </p:nvSpPr>
        <p:spPr>
          <a:xfrm>
            <a:off x="1524000" y="4365812"/>
            <a:ext cx="9144000" cy="143076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604334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1BBF1-1D3A-446B-9CAC-DBC2F94EE01F}"/>
              </a:ext>
            </a:extLst>
          </p:cNvPr>
          <p:cNvSpPr>
            <a:spLocks noGrp="1"/>
          </p:cNvSpPr>
          <p:nvPr>
            <p:ph type="title"/>
          </p:nvPr>
        </p:nvSpPr>
        <p:spPr/>
        <p:txBody>
          <a:bodyPr/>
          <a:lstStyle/>
          <a:p>
            <a:r>
              <a:rPr lang="en-US" b="1" dirty="0">
                <a:latin typeface="Agency FB" panose="020B0503020202020204" pitchFamily="34" charset="0"/>
              </a:rPr>
              <a:t>INTRODUCTION</a:t>
            </a:r>
          </a:p>
        </p:txBody>
      </p:sp>
      <p:sp>
        <p:nvSpPr>
          <p:cNvPr id="3" name="Content Placeholder 2">
            <a:extLst>
              <a:ext uri="{FF2B5EF4-FFF2-40B4-BE49-F238E27FC236}">
                <a16:creationId xmlns:a16="http://schemas.microsoft.com/office/drawing/2014/main" id="{D3FF08D2-9954-4737-9D15-7AA42872E9A4}"/>
              </a:ext>
            </a:extLst>
          </p:cNvPr>
          <p:cNvSpPr>
            <a:spLocks noGrp="1"/>
          </p:cNvSpPr>
          <p:nvPr>
            <p:ph idx="1"/>
          </p:nvPr>
        </p:nvSpPr>
        <p:spPr/>
        <p:txBody>
          <a:bodyPr>
            <a:normAutofit/>
          </a:bodyPr>
          <a:lstStyle/>
          <a:p>
            <a:r>
              <a:rPr lang="en-US" sz="2000" b="1" dirty="0">
                <a:latin typeface="Agency FB" panose="020B0503020202020204" pitchFamily="34" charset="0"/>
                <a:cs typeface="Times New Roman" panose="02020603050405020304" pitchFamily="18" charset="0"/>
              </a:rPr>
              <a:t>This project analyzes product-level inventory data to optimize supply chain efficiency and safeguard retail revenue. By evaluating physical stock quantities, reorder points, and sales velocity, this analysis identifies products at immediate risk of stockouts and uncovers capital tied up in dead stock. The final deliverables provide an actionable replenishment priority ranking system, allowing warehouse managers to prevent lost sales and reduce holding costs through data-driven restocking.</a:t>
            </a:r>
          </a:p>
        </p:txBody>
      </p:sp>
    </p:spTree>
    <p:extLst>
      <p:ext uri="{BB962C8B-B14F-4D97-AF65-F5344CB8AC3E}">
        <p14:creationId xmlns:p14="http://schemas.microsoft.com/office/powerpoint/2010/main" val="47209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D14FF-E5D3-4ECD-93FB-772AEA2D6C43}"/>
              </a:ext>
            </a:extLst>
          </p:cNvPr>
          <p:cNvSpPr>
            <a:spLocks noGrp="1"/>
          </p:cNvSpPr>
          <p:nvPr>
            <p:ph type="title"/>
          </p:nvPr>
        </p:nvSpPr>
        <p:spPr/>
        <p:txBody>
          <a:bodyPr/>
          <a:lstStyle/>
          <a:p>
            <a:r>
              <a:rPr lang="en-US" b="1" dirty="0">
                <a:latin typeface="Agency FB" panose="020B0503020202020204" pitchFamily="34" charset="0"/>
              </a:rPr>
              <a:t>INTRODUCTION</a:t>
            </a:r>
          </a:p>
        </p:txBody>
      </p:sp>
      <p:sp>
        <p:nvSpPr>
          <p:cNvPr id="3" name="Content Placeholder 2">
            <a:extLst>
              <a:ext uri="{FF2B5EF4-FFF2-40B4-BE49-F238E27FC236}">
                <a16:creationId xmlns:a16="http://schemas.microsoft.com/office/drawing/2014/main" id="{1AF561E1-7E37-4A9B-8A83-9BE775CD97C6}"/>
              </a:ext>
            </a:extLst>
          </p:cNvPr>
          <p:cNvSpPr>
            <a:spLocks noGrp="1"/>
          </p:cNvSpPr>
          <p:nvPr>
            <p:ph idx="1"/>
          </p:nvPr>
        </p:nvSpPr>
        <p:spPr/>
        <p:txBody>
          <a:bodyPr>
            <a:normAutofit fontScale="92500" lnSpcReduction="10000"/>
          </a:bodyPr>
          <a:lstStyle/>
          <a:p>
            <a:pPr algn="ctr"/>
            <a:r>
              <a:rPr lang="en-US" b="1" dirty="0">
                <a:latin typeface="Agency FB" panose="020B0503020202020204" pitchFamily="34" charset="0"/>
                <a:cs typeface="Times New Roman" panose="02020603050405020304" pitchFamily="18" charset="0"/>
              </a:rPr>
              <a:t> </a:t>
            </a:r>
            <a:r>
              <a:rPr lang="en-US" b="1" u="sng" dirty="0">
                <a:latin typeface="Agency FB" panose="020B0503020202020204" pitchFamily="34" charset="0"/>
                <a:cs typeface="Times New Roman" panose="02020603050405020304" pitchFamily="18" charset="0"/>
              </a:rPr>
              <a:t>Business Problem &amp; Objectives: </a:t>
            </a:r>
          </a:p>
          <a:p>
            <a:r>
              <a:rPr lang="en-US" b="1" dirty="0">
                <a:latin typeface="Agency FB" panose="020B0503020202020204" pitchFamily="34" charset="0"/>
                <a:cs typeface="Times New Roman" panose="02020603050405020304" pitchFamily="18" charset="0"/>
              </a:rPr>
              <a:t>The retail operation faced significant supply chain disruptions due to unoptimized inventory levels. The core objectives of this project were to:</a:t>
            </a:r>
          </a:p>
          <a:p>
            <a:r>
              <a:rPr lang="en-US" b="1" dirty="0">
                <a:latin typeface="Agency FB" panose="020B0503020202020204" pitchFamily="34" charset="0"/>
                <a:cs typeface="Times New Roman" panose="02020603050405020304" pitchFamily="18" charset="0"/>
              </a:rPr>
              <a:t> Quantify Stockout Risk: Identify high-velocity products nearing depletion to prevent lost revenue.</a:t>
            </a:r>
          </a:p>
          <a:p>
            <a:r>
              <a:rPr lang="en-US" b="1" dirty="0">
                <a:latin typeface="Agency FB" panose="020B0503020202020204" pitchFamily="34" charset="0"/>
                <a:cs typeface="Times New Roman" panose="02020603050405020304" pitchFamily="18" charset="0"/>
              </a:rPr>
              <a:t> Isolate Dead Stock: Locate stagnant inventory with zero sales to free up warehouse capacity.</a:t>
            </a:r>
          </a:p>
          <a:p>
            <a:r>
              <a:rPr lang="en-US" b="1" dirty="0">
                <a:latin typeface="Agency FB" panose="020B0503020202020204" pitchFamily="34" charset="0"/>
                <a:cs typeface="Times New Roman" panose="02020603050405020304" pitchFamily="18" charset="0"/>
              </a:rPr>
              <a:t> Automate Replenishment Priority: Build a dynamic ranking system to tell data stakeholders exactly which products to reorder first based on lead times.</a:t>
            </a:r>
          </a:p>
        </p:txBody>
      </p:sp>
    </p:spTree>
    <p:extLst>
      <p:ext uri="{BB962C8B-B14F-4D97-AF65-F5344CB8AC3E}">
        <p14:creationId xmlns:p14="http://schemas.microsoft.com/office/powerpoint/2010/main" val="2720824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928A-DF00-4966-A52D-874F0770862A}"/>
              </a:ext>
            </a:extLst>
          </p:cNvPr>
          <p:cNvSpPr>
            <a:spLocks noGrp="1"/>
          </p:cNvSpPr>
          <p:nvPr>
            <p:ph type="title"/>
          </p:nvPr>
        </p:nvSpPr>
        <p:spPr/>
        <p:txBody>
          <a:bodyPr/>
          <a:lstStyle/>
          <a:p>
            <a:r>
              <a:rPr lang="en-US" b="1" dirty="0">
                <a:latin typeface="Agency FB" panose="020B0503020202020204" pitchFamily="34" charset="0"/>
              </a:rPr>
              <a:t>DATA DESCRIPTON</a:t>
            </a:r>
          </a:p>
        </p:txBody>
      </p:sp>
      <p:sp>
        <p:nvSpPr>
          <p:cNvPr id="3" name="Content Placeholder 2">
            <a:extLst>
              <a:ext uri="{FF2B5EF4-FFF2-40B4-BE49-F238E27FC236}">
                <a16:creationId xmlns:a16="http://schemas.microsoft.com/office/drawing/2014/main" id="{ECCEF9A2-914B-4BEF-9103-A3FE5CFB1B64}"/>
              </a:ext>
            </a:extLst>
          </p:cNvPr>
          <p:cNvSpPr>
            <a:spLocks noGrp="1"/>
          </p:cNvSpPr>
          <p:nvPr>
            <p:ph idx="1"/>
          </p:nvPr>
        </p:nvSpPr>
        <p:spPr/>
        <p:txBody>
          <a:bodyPr/>
          <a:lstStyle/>
          <a:p>
            <a:r>
              <a:rPr lang="en-US" b="1" dirty="0">
                <a:latin typeface="Agency FB" panose="020B0503020202020204" pitchFamily="34" charset="0"/>
                <a:cs typeface="Times New Roman" panose="02020603050405020304" pitchFamily="18" charset="0"/>
              </a:rPr>
              <a:t>The analysis was performed on a relational dataset containing historical tracking records of inventory levels, product characteristics, and consumer demand metrics.</a:t>
            </a:r>
          </a:p>
          <a:p>
            <a:r>
              <a:rPr lang="en-US" b="1" dirty="0">
                <a:latin typeface="Agency FB" panose="020B0503020202020204" pitchFamily="34" charset="0"/>
                <a:cs typeface="Times New Roman" panose="02020603050405020304" pitchFamily="18" charset="0"/>
              </a:rPr>
              <a:t>The dataset was gotten from the Kaggle.com site, containing seventy-three thousand rows and fifteen columns of data </a:t>
            </a:r>
          </a:p>
        </p:txBody>
      </p:sp>
    </p:spTree>
    <p:extLst>
      <p:ext uri="{BB962C8B-B14F-4D97-AF65-F5344CB8AC3E}">
        <p14:creationId xmlns:p14="http://schemas.microsoft.com/office/powerpoint/2010/main" val="2653121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8AC5B5-6C78-4895-8C2B-AA2D7B7A6F4E}"/>
              </a:ext>
            </a:extLst>
          </p:cNvPr>
          <p:cNvSpPr>
            <a:spLocks noGrp="1"/>
          </p:cNvSpPr>
          <p:nvPr>
            <p:ph type="title"/>
          </p:nvPr>
        </p:nvSpPr>
        <p:spPr/>
        <p:txBody>
          <a:bodyPr/>
          <a:lstStyle/>
          <a:p>
            <a:r>
              <a:rPr lang="en-US" b="1" dirty="0">
                <a:latin typeface="Agency FB" panose="020B0503020202020204" pitchFamily="34" charset="0"/>
              </a:rPr>
              <a:t>METHODOLOGY</a:t>
            </a:r>
          </a:p>
        </p:txBody>
      </p:sp>
      <p:sp>
        <p:nvSpPr>
          <p:cNvPr id="7" name="Content Placeholder 6">
            <a:extLst>
              <a:ext uri="{FF2B5EF4-FFF2-40B4-BE49-F238E27FC236}">
                <a16:creationId xmlns:a16="http://schemas.microsoft.com/office/drawing/2014/main" id="{FFF11BB7-CDDD-40A9-9A13-A9AE527EC6DA}"/>
              </a:ext>
            </a:extLst>
          </p:cNvPr>
          <p:cNvSpPr>
            <a:spLocks noGrp="1"/>
          </p:cNvSpPr>
          <p:nvPr>
            <p:ph idx="1"/>
          </p:nvPr>
        </p:nvSpPr>
        <p:spPr/>
        <p:txBody>
          <a:bodyPr>
            <a:normAutofit fontScale="77500" lnSpcReduction="20000"/>
          </a:bodyPr>
          <a:lstStyle/>
          <a:p>
            <a:pPr algn="ctr"/>
            <a:r>
              <a:rPr lang="en-US" b="1" dirty="0">
                <a:latin typeface="Agency FB" panose="020B0503020202020204" pitchFamily="34" charset="0"/>
                <a:cs typeface="Times New Roman" panose="02020603050405020304" pitchFamily="18" charset="0"/>
              </a:rPr>
              <a:t> </a:t>
            </a:r>
            <a:r>
              <a:rPr lang="en-US" b="1" u="sng" dirty="0">
                <a:latin typeface="Agency FB" panose="020B0503020202020204" pitchFamily="34" charset="0"/>
                <a:cs typeface="Times New Roman" panose="02020603050405020304" pitchFamily="18" charset="0"/>
              </a:rPr>
              <a:t>Excel Phase (Data Transformation &amp; Health Rules)</a:t>
            </a:r>
          </a:p>
          <a:p>
            <a:pPr algn="ctr"/>
            <a:r>
              <a:rPr lang="en-US" b="1" dirty="0">
                <a:latin typeface="Agency FB" panose="020B0503020202020204" pitchFamily="34" charset="0"/>
                <a:cs typeface="Times New Roman" panose="02020603050405020304" pitchFamily="18" charset="0"/>
              </a:rPr>
              <a:t>Days of Cover Calculation: Used to measure how long existing stock will survive current sales velocity.</a:t>
            </a:r>
          </a:p>
          <a:p>
            <a:pPr algn="ctr"/>
            <a:r>
              <a:rPr lang="en-US" b="1" dirty="0">
                <a:latin typeface="Agency FB" panose="020B0503020202020204" pitchFamily="34" charset="0"/>
                <a:cs typeface="Times New Roman" panose="02020603050405020304" pitchFamily="18" charset="0"/>
              </a:rPr>
              <a:t> Formula: =</a:t>
            </a:r>
            <a:r>
              <a:rPr lang="en-US" b="1" i="1" dirty="0">
                <a:latin typeface="Agency FB" panose="020B0503020202020204" pitchFamily="34" charset="0"/>
                <a:cs typeface="Times New Roman" panose="02020603050405020304" pitchFamily="18" charset="0"/>
              </a:rPr>
              <a:t>IF</a:t>
            </a:r>
            <a:r>
              <a:rPr lang="en-US" b="1" dirty="0">
                <a:latin typeface="Agency FB" panose="020B0503020202020204" pitchFamily="34" charset="0"/>
                <a:cs typeface="Times New Roman" panose="02020603050405020304" pitchFamily="18" charset="0"/>
              </a:rPr>
              <a:t>(D2=0, 999, C2/D2) (Where C2 is Current Stock and D2 is Average Daily Sales. The</a:t>
            </a:r>
            <a:r>
              <a:rPr lang="en-US" b="1" i="1" dirty="0">
                <a:latin typeface="Agency FB" panose="020B0503020202020204" pitchFamily="34" charset="0"/>
                <a:cs typeface="Times New Roman" panose="02020603050405020304" pitchFamily="18" charset="0"/>
              </a:rPr>
              <a:t> IF </a:t>
            </a:r>
            <a:r>
              <a:rPr lang="en-US" b="1" dirty="0">
                <a:latin typeface="Agency FB" panose="020B0503020202020204" pitchFamily="34" charset="0"/>
                <a:cs typeface="Times New Roman" panose="02020603050405020304" pitchFamily="18" charset="0"/>
              </a:rPr>
              <a:t>error handler prevents division-by-zero errors).</a:t>
            </a:r>
          </a:p>
          <a:p>
            <a:pPr algn="ctr"/>
            <a:r>
              <a:rPr lang="en-US" b="1" dirty="0">
                <a:latin typeface="Agency FB" panose="020B0503020202020204" pitchFamily="34" charset="0"/>
                <a:cs typeface="Times New Roman" panose="02020603050405020304" pitchFamily="18" charset="0"/>
              </a:rPr>
              <a:t> Stock Turnover Ratio: Applied at macro-category tiers to monitor operational efficiency.</a:t>
            </a:r>
          </a:p>
          <a:p>
            <a:pPr algn="ctr"/>
            <a:r>
              <a:rPr lang="en-US" b="1" dirty="0">
                <a:latin typeface="Agency FB" panose="020B0503020202020204" pitchFamily="34" charset="0"/>
                <a:cs typeface="Times New Roman" panose="02020603050405020304" pitchFamily="18" charset="0"/>
              </a:rPr>
              <a:t> Formula: =E2/F2 (Where E2 is Annual Units Sold and F2 is Average Inventory Level).</a:t>
            </a:r>
          </a:p>
          <a:p>
            <a:pPr algn="ctr"/>
            <a:r>
              <a:rPr lang="en-US" b="1" dirty="0">
                <a:latin typeface="Agency FB" panose="020B0503020202020204" pitchFamily="34" charset="0"/>
                <a:cs typeface="Times New Roman" panose="02020603050405020304" pitchFamily="18" charset="0"/>
              </a:rPr>
              <a:t>Automated Visual Rules: Deployed </a:t>
            </a:r>
            <a:r>
              <a:rPr lang="en-US" b="1" u="sng" dirty="0">
                <a:latin typeface="Agency FB" panose="020B0503020202020204" pitchFamily="34" charset="0"/>
                <a:cs typeface="Times New Roman" panose="02020603050405020304" pitchFamily="18" charset="0"/>
              </a:rPr>
              <a:t>conditional formatting </a:t>
            </a:r>
            <a:r>
              <a:rPr lang="en-US" b="1" dirty="0">
                <a:latin typeface="Agency FB" panose="020B0503020202020204" pitchFamily="34" charset="0"/>
                <a:cs typeface="Times New Roman" panose="02020603050405020304" pitchFamily="18" charset="0"/>
              </a:rPr>
              <a:t>rules to establish instant inventory tracking tiers:</a:t>
            </a:r>
          </a:p>
          <a:p>
            <a:pPr algn="ctr"/>
            <a:r>
              <a:rPr lang="en-US" b="1" dirty="0">
                <a:latin typeface="Agency FB" panose="020B0503020202020204" pitchFamily="34" charset="0"/>
                <a:cs typeface="Times New Roman" panose="02020603050405020304" pitchFamily="18" charset="0"/>
              </a:rPr>
              <a:t>🔴 Red Alert: &lt; 7 Days of Cover (Immediate stockout risk)  </a:t>
            </a:r>
          </a:p>
          <a:p>
            <a:pPr algn="ctr"/>
            <a:r>
              <a:rPr lang="en-US" b="1" dirty="0">
                <a:latin typeface="Agency FB" panose="020B0503020202020204" pitchFamily="34" charset="0"/>
                <a:cs typeface="Times New Roman" panose="02020603050405020304" pitchFamily="18" charset="0"/>
              </a:rPr>
              <a:t>  🟡 Amber Warning: Between 7 and 14 Days of Cover (Low inventory)</a:t>
            </a:r>
          </a:p>
        </p:txBody>
      </p:sp>
    </p:spTree>
    <p:extLst>
      <p:ext uri="{BB962C8B-B14F-4D97-AF65-F5344CB8AC3E}">
        <p14:creationId xmlns:p14="http://schemas.microsoft.com/office/powerpoint/2010/main" val="718932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7C8DE-E05B-4B3F-B2C8-27A01ADC8F67}"/>
              </a:ext>
            </a:extLst>
          </p:cNvPr>
          <p:cNvSpPr>
            <a:spLocks noGrp="1"/>
          </p:cNvSpPr>
          <p:nvPr>
            <p:ph type="title"/>
          </p:nvPr>
        </p:nvSpPr>
        <p:spPr/>
        <p:txBody>
          <a:bodyPr/>
          <a:lstStyle/>
          <a:p>
            <a:r>
              <a:rPr lang="en-US" b="1" dirty="0">
                <a:latin typeface="Agency FB" panose="020B0503020202020204" pitchFamily="34" charset="0"/>
              </a:rPr>
              <a:t>METHODOLOGY</a:t>
            </a:r>
          </a:p>
        </p:txBody>
      </p:sp>
      <p:sp>
        <p:nvSpPr>
          <p:cNvPr id="3" name="Content Placeholder 2">
            <a:extLst>
              <a:ext uri="{FF2B5EF4-FFF2-40B4-BE49-F238E27FC236}">
                <a16:creationId xmlns:a16="http://schemas.microsoft.com/office/drawing/2014/main" id="{3D90045D-96F4-4B0A-B730-F04A0B6FD040}"/>
              </a:ext>
            </a:extLst>
          </p:cNvPr>
          <p:cNvSpPr>
            <a:spLocks noGrp="1"/>
          </p:cNvSpPr>
          <p:nvPr>
            <p:ph idx="1"/>
          </p:nvPr>
        </p:nvSpPr>
        <p:spPr/>
        <p:txBody>
          <a:bodyPr>
            <a:normAutofit fontScale="70000" lnSpcReduction="20000"/>
          </a:bodyPr>
          <a:lstStyle/>
          <a:p>
            <a:pPr algn="ctr"/>
            <a:r>
              <a:rPr lang="en-US" b="1" dirty="0">
                <a:latin typeface="Agency FB" panose="020B0503020202020204" pitchFamily="34" charset="0"/>
                <a:cs typeface="Times New Roman" panose="02020603050405020304" pitchFamily="18" charset="0"/>
              </a:rPr>
              <a:t> </a:t>
            </a:r>
            <a:r>
              <a:rPr lang="en-US" b="1" u="sng" dirty="0">
                <a:latin typeface="Agency FB" panose="020B0503020202020204" pitchFamily="34" charset="0"/>
                <a:cs typeface="Times New Roman" panose="02020603050405020304" pitchFamily="18" charset="0"/>
              </a:rPr>
              <a:t>SQL Phase (Database Automation)</a:t>
            </a:r>
          </a:p>
          <a:p>
            <a:r>
              <a:rPr lang="en-US" b="1" dirty="0">
                <a:latin typeface="Agency FB" panose="020B0503020202020204" pitchFamily="34" charset="0"/>
                <a:cs typeface="Times New Roman" panose="02020603050405020304" pitchFamily="18" charset="0"/>
              </a:rPr>
              <a:t>Query 1: Stockout Risk Prioritization:</a:t>
            </a:r>
          </a:p>
          <a:p>
            <a:pPr marL="0" indent="0">
              <a:buNone/>
            </a:pPr>
            <a:r>
              <a:rPr lang="en-US" b="1" dirty="0">
                <a:latin typeface="Agency FB" panose="020B0503020202020204" pitchFamily="34" charset="0"/>
                <a:cs typeface="Times New Roman" panose="02020603050405020304" pitchFamily="18" charset="0"/>
              </a:rPr>
              <a:t>SELECT</a:t>
            </a:r>
          </a:p>
          <a:p>
            <a:pPr marL="0" indent="0">
              <a:buNone/>
            </a:pPr>
            <a:r>
              <a:rPr lang="en-US" b="1" dirty="0">
                <a:latin typeface="Agency FB" panose="020B0503020202020204" pitchFamily="34" charset="0"/>
                <a:cs typeface="Times New Roman" panose="02020603050405020304" pitchFamily="18" charset="0"/>
              </a:rPr>
              <a:t> </a:t>
            </a:r>
            <a:r>
              <a:rPr lang="en-US" b="1" dirty="0" err="1">
                <a:latin typeface="Agency FB" panose="020B0503020202020204" pitchFamily="34" charset="0"/>
                <a:cs typeface="Times New Roman" panose="02020603050405020304" pitchFamily="18" charset="0"/>
              </a:rPr>
              <a:t>Product_ID</a:t>
            </a:r>
            <a:r>
              <a:rPr lang="en-US" b="1" dirty="0">
                <a:latin typeface="Agency FB" panose="020B0503020202020204" pitchFamily="34" charset="0"/>
                <a:cs typeface="Times New Roman" panose="02020603050405020304" pitchFamily="18" charset="0"/>
              </a:rPr>
              <a:t>,</a:t>
            </a:r>
          </a:p>
          <a:p>
            <a:pPr marL="0" indent="0">
              <a:buNone/>
            </a:pPr>
            <a:r>
              <a:rPr lang="en-US" b="1" dirty="0">
                <a:latin typeface="Agency FB" panose="020B0503020202020204" pitchFamily="34" charset="0"/>
                <a:cs typeface="Times New Roman" panose="02020603050405020304" pitchFamily="18" charset="0"/>
              </a:rPr>
              <a:t> Category,</a:t>
            </a:r>
          </a:p>
          <a:p>
            <a:pPr marL="0" indent="0">
              <a:buNone/>
            </a:pPr>
            <a:r>
              <a:rPr lang="en-US" b="1" dirty="0">
                <a:latin typeface="Agency FB" panose="020B0503020202020204" pitchFamily="34" charset="0"/>
                <a:cs typeface="Times New Roman" panose="02020603050405020304" pitchFamily="18" charset="0"/>
              </a:rPr>
              <a:t> </a:t>
            </a:r>
            <a:r>
              <a:rPr lang="en-US" b="1" dirty="0" err="1">
                <a:latin typeface="Agency FB" panose="020B0503020202020204" pitchFamily="34" charset="0"/>
                <a:cs typeface="Times New Roman" panose="02020603050405020304" pitchFamily="18" charset="0"/>
              </a:rPr>
              <a:t>Inventory_Level</a:t>
            </a:r>
            <a:r>
              <a:rPr lang="en-US" b="1" dirty="0">
                <a:latin typeface="Agency FB" panose="020B0503020202020204" pitchFamily="34" charset="0"/>
                <a:cs typeface="Times New Roman" panose="02020603050405020304" pitchFamily="18" charset="0"/>
              </a:rPr>
              <a:t>,</a:t>
            </a:r>
          </a:p>
          <a:p>
            <a:pPr marL="0" indent="0">
              <a:buNone/>
            </a:pPr>
            <a:r>
              <a:rPr lang="en-US" b="1" dirty="0">
                <a:latin typeface="Agency FB" panose="020B0503020202020204" pitchFamily="34" charset="0"/>
                <a:cs typeface="Times New Roman" panose="02020603050405020304" pitchFamily="18" charset="0"/>
              </a:rPr>
              <a:t> </a:t>
            </a:r>
            <a:r>
              <a:rPr lang="en-US" b="1" dirty="0" err="1">
                <a:latin typeface="Agency FB" panose="020B0503020202020204" pitchFamily="34" charset="0"/>
                <a:cs typeface="Times New Roman" panose="02020603050405020304" pitchFamily="18" charset="0"/>
              </a:rPr>
              <a:t>Units_Sold</a:t>
            </a:r>
            <a:r>
              <a:rPr lang="en-US" b="1" dirty="0">
                <a:latin typeface="Agency FB" panose="020B0503020202020204" pitchFamily="34" charset="0"/>
                <a:cs typeface="Times New Roman" panose="02020603050405020304" pitchFamily="18" charset="0"/>
              </a:rPr>
              <a:t>,</a:t>
            </a:r>
          </a:p>
          <a:p>
            <a:pPr marL="0" indent="0">
              <a:buNone/>
            </a:pPr>
            <a:r>
              <a:rPr lang="en-US" b="1" dirty="0">
                <a:latin typeface="Agency FB" panose="020B0503020202020204" pitchFamily="34" charset="0"/>
                <a:cs typeface="Times New Roman" panose="02020603050405020304" pitchFamily="18" charset="0"/>
              </a:rPr>
              <a:t>    CASE WHEN </a:t>
            </a:r>
            <a:r>
              <a:rPr lang="en-US" b="1" dirty="0" err="1">
                <a:latin typeface="Agency FB" panose="020B0503020202020204" pitchFamily="34" charset="0"/>
                <a:cs typeface="Times New Roman" panose="02020603050405020304" pitchFamily="18" charset="0"/>
              </a:rPr>
              <a:t>Units_Sold</a:t>
            </a:r>
            <a:r>
              <a:rPr lang="en-US" b="1" dirty="0">
                <a:latin typeface="Agency FB" panose="020B0503020202020204" pitchFamily="34" charset="0"/>
                <a:cs typeface="Times New Roman" panose="02020603050405020304" pitchFamily="18" charset="0"/>
              </a:rPr>
              <a:t> = 0 THEN 999     ELSE ROUND(CAST(</a:t>
            </a:r>
            <a:r>
              <a:rPr lang="en-US" b="1" dirty="0" err="1">
                <a:latin typeface="Agency FB" panose="020B0503020202020204" pitchFamily="34" charset="0"/>
                <a:cs typeface="Times New Roman" panose="02020603050405020304" pitchFamily="18" charset="0"/>
              </a:rPr>
              <a:t>Inventory_Level</a:t>
            </a:r>
            <a:r>
              <a:rPr lang="en-US" b="1" dirty="0">
                <a:latin typeface="Agency FB" panose="020B0503020202020204" pitchFamily="34" charset="0"/>
                <a:cs typeface="Times New Roman" panose="02020603050405020304" pitchFamily="18" charset="0"/>
              </a:rPr>
              <a:t> AS FLOAT) / </a:t>
            </a:r>
            <a:r>
              <a:rPr lang="en-US" b="1" dirty="0" err="1">
                <a:latin typeface="Agency FB" panose="020B0503020202020204" pitchFamily="34" charset="0"/>
                <a:cs typeface="Times New Roman" panose="02020603050405020304" pitchFamily="18" charset="0"/>
              </a:rPr>
              <a:t>Units_Sold</a:t>
            </a:r>
            <a:r>
              <a:rPr lang="en-US" b="1" dirty="0">
                <a:latin typeface="Agency FB" panose="020B0503020202020204" pitchFamily="34" charset="0"/>
                <a:cs typeface="Times New Roman" panose="02020603050405020304" pitchFamily="18" charset="0"/>
              </a:rPr>
              <a:t>, 2) </a:t>
            </a:r>
          </a:p>
          <a:p>
            <a:pPr marL="0" indent="0">
              <a:buNone/>
            </a:pPr>
            <a:r>
              <a:rPr lang="en-US" b="1" dirty="0">
                <a:latin typeface="Agency FB" panose="020B0503020202020204" pitchFamily="34" charset="0"/>
                <a:cs typeface="Times New Roman" panose="02020603050405020304" pitchFamily="18" charset="0"/>
              </a:rPr>
              <a:t>END AS </a:t>
            </a:r>
            <a:r>
              <a:rPr lang="en-US" b="1" dirty="0" err="1">
                <a:latin typeface="Agency FB" panose="020B0503020202020204" pitchFamily="34" charset="0"/>
                <a:cs typeface="Times New Roman" panose="02020603050405020304" pitchFamily="18" charset="0"/>
              </a:rPr>
              <a:t>Days_of_CoverFROM</a:t>
            </a:r>
            <a:endParaRPr lang="en-US" b="1" dirty="0">
              <a:latin typeface="Agency FB" panose="020B0503020202020204" pitchFamily="34" charset="0"/>
              <a:cs typeface="Times New Roman" panose="02020603050405020304" pitchFamily="18" charset="0"/>
            </a:endParaRPr>
          </a:p>
          <a:p>
            <a:pPr marL="0" indent="0">
              <a:buNone/>
            </a:pPr>
            <a:r>
              <a:rPr lang="en-US" b="1" dirty="0">
                <a:latin typeface="Agency FB" panose="020B0503020202020204" pitchFamily="34" charset="0"/>
                <a:cs typeface="Times New Roman" panose="02020603050405020304" pitchFamily="18" charset="0"/>
              </a:rPr>
              <a:t> </a:t>
            </a:r>
            <a:r>
              <a:rPr lang="en-US" b="1" dirty="0" err="1">
                <a:latin typeface="Agency FB" panose="020B0503020202020204" pitchFamily="34" charset="0"/>
                <a:cs typeface="Times New Roman" panose="02020603050405020304" pitchFamily="18" charset="0"/>
              </a:rPr>
              <a:t>Retail_Inventory_DataORDER</a:t>
            </a:r>
            <a:r>
              <a:rPr lang="en-US" b="1" dirty="0">
                <a:latin typeface="Agency FB" panose="020B0503020202020204" pitchFamily="34" charset="0"/>
                <a:cs typeface="Times New Roman" panose="02020603050405020304" pitchFamily="18" charset="0"/>
              </a:rPr>
              <a:t> BY </a:t>
            </a:r>
            <a:r>
              <a:rPr lang="en-US" b="1" dirty="0" err="1">
                <a:latin typeface="Agency FB" panose="020B0503020202020204" pitchFamily="34" charset="0"/>
                <a:cs typeface="Times New Roman" panose="02020603050405020304" pitchFamily="18" charset="0"/>
              </a:rPr>
              <a:t>Days_of_Cover</a:t>
            </a:r>
            <a:r>
              <a:rPr lang="en-US" b="1" dirty="0">
                <a:latin typeface="Agency FB" panose="020B0503020202020204" pitchFamily="34" charset="0"/>
                <a:cs typeface="Times New Roman" panose="02020603050405020304" pitchFamily="18" charset="0"/>
              </a:rPr>
              <a:t> ASC;</a:t>
            </a:r>
          </a:p>
        </p:txBody>
      </p:sp>
      <p:sp>
        <p:nvSpPr>
          <p:cNvPr id="6" name="AutoShape 4">
            <a:extLst>
              <a:ext uri="{FF2B5EF4-FFF2-40B4-BE49-F238E27FC236}">
                <a16:creationId xmlns:a16="http://schemas.microsoft.com/office/drawing/2014/main" id="{B3BBC57D-43E0-4E80-ADD8-6BA1AD4E6EF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44496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48F4-01A7-4D46-B182-9F0868BCE0F8}"/>
              </a:ext>
            </a:extLst>
          </p:cNvPr>
          <p:cNvSpPr>
            <a:spLocks noGrp="1"/>
          </p:cNvSpPr>
          <p:nvPr>
            <p:ph type="title"/>
          </p:nvPr>
        </p:nvSpPr>
        <p:spPr/>
        <p:txBody>
          <a:bodyPr/>
          <a:lstStyle/>
          <a:p>
            <a:r>
              <a:rPr lang="en-US" b="1" dirty="0">
                <a:latin typeface="Agency FB" panose="020B0503020202020204" pitchFamily="34" charset="0"/>
              </a:rPr>
              <a:t>METHODOLOGY</a:t>
            </a:r>
          </a:p>
        </p:txBody>
      </p:sp>
      <p:sp>
        <p:nvSpPr>
          <p:cNvPr id="3" name="Content Placeholder 2">
            <a:extLst>
              <a:ext uri="{FF2B5EF4-FFF2-40B4-BE49-F238E27FC236}">
                <a16:creationId xmlns:a16="http://schemas.microsoft.com/office/drawing/2014/main" id="{218EEB93-89CC-4B38-9A21-9D8774E3980A}"/>
              </a:ext>
            </a:extLst>
          </p:cNvPr>
          <p:cNvSpPr>
            <a:spLocks noGrp="1"/>
          </p:cNvSpPr>
          <p:nvPr>
            <p:ph idx="1"/>
          </p:nvPr>
        </p:nvSpPr>
        <p:spPr/>
        <p:txBody>
          <a:bodyPr>
            <a:normAutofit fontScale="85000" lnSpcReduction="10000"/>
          </a:bodyPr>
          <a:lstStyle/>
          <a:p>
            <a:pPr algn="ctr"/>
            <a:r>
              <a:rPr lang="en-US" u="sng" dirty="0">
                <a:latin typeface="Agency FB" panose="020B0503020202020204" pitchFamily="34" charset="0"/>
                <a:cs typeface="Times New Roman" panose="02020603050405020304" pitchFamily="18" charset="0"/>
              </a:rPr>
              <a:t>Query 2: Dead Stock Tracking (No Sales in 60+ Days)</a:t>
            </a:r>
          </a:p>
          <a:p>
            <a:r>
              <a:rPr lang="en-US" dirty="0">
                <a:latin typeface="Agency FB" panose="020B0503020202020204" pitchFamily="34" charset="0"/>
                <a:cs typeface="Times New Roman" panose="02020603050405020304" pitchFamily="18" charset="0"/>
              </a:rPr>
              <a:t>SELECT</a:t>
            </a:r>
          </a:p>
          <a:p>
            <a:r>
              <a:rPr lang="en-US" dirty="0">
                <a:latin typeface="Agency FB" panose="020B0503020202020204" pitchFamily="34" charset="0"/>
                <a:cs typeface="Times New Roman" panose="02020603050405020304" pitchFamily="18" charset="0"/>
              </a:rPr>
              <a:t> </a:t>
            </a:r>
            <a:r>
              <a:rPr lang="en-US" dirty="0" err="1">
                <a:latin typeface="Agency FB" panose="020B0503020202020204" pitchFamily="34" charset="0"/>
                <a:cs typeface="Times New Roman" panose="02020603050405020304" pitchFamily="18" charset="0"/>
              </a:rPr>
              <a:t>Product_ID</a:t>
            </a:r>
            <a:r>
              <a:rPr lang="en-US" dirty="0">
                <a:latin typeface="Agency FB" panose="020B0503020202020204" pitchFamily="34" charset="0"/>
                <a:cs typeface="Times New Roman" panose="02020603050405020304" pitchFamily="18" charset="0"/>
              </a:rPr>
              <a:t>,</a:t>
            </a:r>
          </a:p>
          <a:p>
            <a:r>
              <a:rPr lang="en-US" dirty="0">
                <a:latin typeface="Agency FB" panose="020B0503020202020204" pitchFamily="34" charset="0"/>
                <a:cs typeface="Times New Roman" panose="02020603050405020304" pitchFamily="18" charset="0"/>
              </a:rPr>
              <a:t> Category, </a:t>
            </a:r>
          </a:p>
          <a:p>
            <a:r>
              <a:rPr lang="en-US" dirty="0" err="1">
                <a:latin typeface="Agency FB" panose="020B0503020202020204" pitchFamily="34" charset="0"/>
                <a:cs typeface="Times New Roman" panose="02020603050405020304" pitchFamily="18" charset="0"/>
              </a:rPr>
              <a:t>Inventory_Level</a:t>
            </a:r>
            <a:r>
              <a:rPr lang="en-US" dirty="0">
                <a:latin typeface="Agency FB" panose="020B0503020202020204" pitchFamily="34" charset="0"/>
                <a:cs typeface="Times New Roman" panose="02020603050405020304" pitchFamily="18" charset="0"/>
              </a:rPr>
              <a:t>,</a:t>
            </a:r>
          </a:p>
          <a:p>
            <a:r>
              <a:rPr lang="en-US" dirty="0">
                <a:latin typeface="Agency FB" panose="020B0503020202020204" pitchFamily="34" charset="0"/>
                <a:cs typeface="Times New Roman" panose="02020603050405020304" pitchFamily="18" charset="0"/>
              </a:rPr>
              <a:t> </a:t>
            </a:r>
            <a:r>
              <a:rPr lang="en-US" dirty="0" err="1">
                <a:latin typeface="Agency FB" panose="020B0503020202020204" pitchFamily="34" charset="0"/>
                <a:cs typeface="Times New Roman" panose="02020603050405020304" pitchFamily="18" charset="0"/>
              </a:rPr>
              <a:t>Units_Sold</a:t>
            </a:r>
            <a:r>
              <a:rPr lang="en-US" dirty="0">
                <a:latin typeface="Agency FB" panose="020B0503020202020204" pitchFamily="34" charset="0"/>
                <a:cs typeface="Times New Roman" panose="02020603050405020304" pitchFamily="18" charset="0"/>
              </a:rPr>
              <a:t>,</a:t>
            </a:r>
          </a:p>
          <a:p>
            <a:r>
              <a:rPr lang="en-US" dirty="0">
                <a:latin typeface="Agency FB" panose="020B0503020202020204" pitchFamily="34" charset="0"/>
                <a:cs typeface="Times New Roman" panose="02020603050405020304" pitchFamily="18" charset="0"/>
              </a:rPr>
              <a:t> </a:t>
            </a:r>
            <a:r>
              <a:rPr lang="en-US" dirty="0" err="1">
                <a:latin typeface="Agency FB" panose="020B0503020202020204" pitchFamily="34" charset="0"/>
                <a:cs typeface="Times New Roman" panose="02020603050405020304" pitchFamily="18" charset="0"/>
              </a:rPr>
              <a:t>DateFROM</a:t>
            </a:r>
            <a:r>
              <a:rPr lang="en-US" dirty="0">
                <a:latin typeface="Agency FB" panose="020B0503020202020204" pitchFamily="34" charset="0"/>
                <a:cs typeface="Times New Roman" panose="02020603050405020304" pitchFamily="18" charset="0"/>
              </a:rPr>
              <a:t> </a:t>
            </a:r>
            <a:r>
              <a:rPr lang="en-US" dirty="0" err="1">
                <a:latin typeface="Agency FB" panose="020B0503020202020204" pitchFamily="34" charset="0"/>
                <a:cs typeface="Times New Roman" panose="02020603050405020304" pitchFamily="18" charset="0"/>
              </a:rPr>
              <a:t>Retail_Inventory_Data</a:t>
            </a:r>
            <a:endParaRPr lang="en-US" dirty="0">
              <a:latin typeface="Agency FB" panose="020B0503020202020204" pitchFamily="34" charset="0"/>
              <a:cs typeface="Times New Roman" panose="02020603050405020304" pitchFamily="18" charset="0"/>
            </a:endParaRPr>
          </a:p>
          <a:p>
            <a:r>
              <a:rPr lang="en-US" dirty="0">
                <a:latin typeface="Agency FB" panose="020B0503020202020204" pitchFamily="34" charset="0"/>
                <a:cs typeface="Times New Roman" panose="02020603050405020304" pitchFamily="18" charset="0"/>
              </a:rPr>
              <a:t>WHERE </a:t>
            </a:r>
            <a:r>
              <a:rPr lang="en-US" dirty="0" err="1">
                <a:latin typeface="Agency FB" panose="020B0503020202020204" pitchFamily="34" charset="0"/>
                <a:cs typeface="Times New Roman" panose="02020603050405020304" pitchFamily="18" charset="0"/>
              </a:rPr>
              <a:t>Units_Sold</a:t>
            </a:r>
            <a:r>
              <a:rPr lang="en-US" dirty="0">
                <a:latin typeface="Agency FB" panose="020B0503020202020204" pitchFamily="34" charset="0"/>
                <a:cs typeface="Times New Roman" panose="02020603050405020304" pitchFamily="18" charset="0"/>
              </a:rPr>
              <a:t> = 0 AND Date &lt;= DATEADD(day, -60, CAST(GETDATE() AS DATE))ORDER BY </a:t>
            </a:r>
            <a:r>
              <a:rPr lang="en-US" dirty="0" err="1">
                <a:latin typeface="Agency FB" panose="020B0503020202020204" pitchFamily="34" charset="0"/>
                <a:cs typeface="Times New Roman" panose="02020603050405020304" pitchFamily="18" charset="0"/>
              </a:rPr>
              <a:t>Inventory_Level</a:t>
            </a:r>
            <a:r>
              <a:rPr lang="en-US" dirty="0">
                <a:latin typeface="Agency FB" panose="020B0503020202020204" pitchFamily="34" charset="0"/>
                <a:cs typeface="Times New Roman" panose="02020603050405020304" pitchFamily="18" charset="0"/>
              </a:rPr>
              <a:t> DESC;</a:t>
            </a:r>
          </a:p>
        </p:txBody>
      </p:sp>
    </p:spTree>
    <p:extLst>
      <p:ext uri="{BB962C8B-B14F-4D97-AF65-F5344CB8AC3E}">
        <p14:creationId xmlns:p14="http://schemas.microsoft.com/office/powerpoint/2010/main" val="385805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6716-F973-4712-91AB-5D2AF285AF56}"/>
              </a:ext>
            </a:extLst>
          </p:cNvPr>
          <p:cNvSpPr>
            <a:spLocks noGrp="1"/>
          </p:cNvSpPr>
          <p:nvPr>
            <p:ph type="title"/>
          </p:nvPr>
        </p:nvSpPr>
        <p:spPr/>
        <p:txBody>
          <a:bodyPr/>
          <a:lstStyle/>
          <a:p>
            <a:r>
              <a:rPr lang="en-US" b="1" dirty="0">
                <a:latin typeface="Agency FB" panose="020B0503020202020204" pitchFamily="34" charset="0"/>
              </a:rPr>
              <a:t>METHODOLOGY</a:t>
            </a:r>
          </a:p>
        </p:txBody>
      </p:sp>
      <p:sp>
        <p:nvSpPr>
          <p:cNvPr id="3" name="Content Placeholder 2">
            <a:extLst>
              <a:ext uri="{FF2B5EF4-FFF2-40B4-BE49-F238E27FC236}">
                <a16:creationId xmlns:a16="http://schemas.microsoft.com/office/drawing/2014/main" id="{D7EF6034-B05D-4DF1-831C-01E52966C618}"/>
              </a:ext>
            </a:extLst>
          </p:cNvPr>
          <p:cNvSpPr>
            <a:spLocks noGrp="1"/>
          </p:cNvSpPr>
          <p:nvPr>
            <p:ph idx="1"/>
          </p:nvPr>
        </p:nvSpPr>
        <p:spPr/>
        <p:txBody>
          <a:bodyPr>
            <a:normAutofit fontScale="92500"/>
          </a:bodyPr>
          <a:lstStyle/>
          <a:p>
            <a:pPr algn="ctr"/>
            <a:r>
              <a:rPr lang="en-US" b="1" u="sng" dirty="0">
                <a:latin typeface="Agency FB" panose="020B0503020202020204" pitchFamily="34" charset="0"/>
                <a:cs typeface="Times New Roman" panose="02020603050405020304" pitchFamily="18" charset="0"/>
              </a:rPr>
              <a:t>Query 3: Category Breakdown &amp; Stockout Frequency</a:t>
            </a:r>
          </a:p>
          <a:p>
            <a:r>
              <a:rPr lang="en-US" b="1" dirty="0">
                <a:latin typeface="Agency FB" panose="020B0503020202020204" pitchFamily="34" charset="0"/>
                <a:cs typeface="Times New Roman" panose="02020603050405020304" pitchFamily="18" charset="0"/>
              </a:rPr>
              <a:t>SELECT</a:t>
            </a:r>
          </a:p>
          <a:p>
            <a:pPr marL="0" indent="0">
              <a:buNone/>
            </a:pPr>
            <a:r>
              <a:rPr lang="en-US" b="1" dirty="0">
                <a:latin typeface="Agency FB" panose="020B0503020202020204" pitchFamily="34" charset="0"/>
                <a:cs typeface="Times New Roman" panose="02020603050405020304" pitchFamily="18" charset="0"/>
              </a:rPr>
              <a:t> Category, </a:t>
            </a:r>
          </a:p>
          <a:p>
            <a:pPr marL="0" indent="0">
              <a:buNone/>
            </a:pPr>
            <a:r>
              <a:rPr lang="en-US" b="1" dirty="0">
                <a:latin typeface="Agency FB" panose="020B0503020202020204" pitchFamily="34" charset="0"/>
                <a:cs typeface="Times New Roman" panose="02020603050405020304" pitchFamily="18" charset="0"/>
              </a:rPr>
              <a:t>ROUND(AVG(CAST(</a:t>
            </a:r>
            <a:r>
              <a:rPr lang="en-US" b="1" dirty="0" err="1">
                <a:latin typeface="Agency FB" panose="020B0503020202020204" pitchFamily="34" charset="0"/>
                <a:cs typeface="Times New Roman" panose="02020603050405020304" pitchFamily="18" charset="0"/>
              </a:rPr>
              <a:t>Annual_Units_Sold</a:t>
            </a:r>
            <a:r>
              <a:rPr lang="en-US" b="1" dirty="0">
                <a:latin typeface="Agency FB" panose="020B0503020202020204" pitchFamily="34" charset="0"/>
                <a:cs typeface="Times New Roman" panose="02020603050405020304" pitchFamily="18" charset="0"/>
              </a:rPr>
              <a:t> AS FLOAT) / NULLIF(</a:t>
            </a:r>
            <a:r>
              <a:rPr lang="en-US" b="1" dirty="0" err="1">
                <a:latin typeface="Agency FB" panose="020B0503020202020204" pitchFamily="34" charset="0"/>
                <a:cs typeface="Times New Roman" panose="02020603050405020304" pitchFamily="18" charset="0"/>
              </a:rPr>
              <a:t>Avg_Inventory_Level</a:t>
            </a:r>
            <a:r>
              <a:rPr lang="en-US" b="1" dirty="0">
                <a:latin typeface="Agency FB" panose="020B0503020202020204" pitchFamily="34" charset="0"/>
                <a:cs typeface="Times New Roman" panose="02020603050405020304" pitchFamily="18" charset="0"/>
              </a:rPr>
              <a:t>, 0)), 2) AS </a:t>
            </a:r>
            <a:r>
              <a:rPr lang="en-US" b="1" dirty="0" err="1">
                <a:latin typeface="Agency FB" panose="020B0503020202020204" pitchFamily="34" charset="0"/>
                <a:cs typeface="Times New Roman" panose="02020603050405020304" pitchFamily="18" charset="0"/>
              </a:rPr>
              <a:t>Avg_Stock_Turnover</a:t>
            </a:r>
            <a:r>
              <a:rPr lang="en-US" b="1" dirty="0">
                <a:latin typeface="Agency FB" panose="020B0503020202020204" pitchFamily="34" charset="0"/>
                <a:cs typeface="Times New Roman" panose="02020603050405020304" pitchFamily="18" charset="0"/>
              </a:rPr>
              <a:t>,  </a:t>
            </a:r>
          </a:p>
          <a:p>
            <a:pPr marL="0" indent="0">
              <a:buNone/>
            </a:pPr>
            <a:r>
              <a:rPr lang="en-US" b="1" dirty="0">
                <a:latin typeface="Agency FB" panose="020B0503020202020204" pitchFamily="34" charset="0"/>
                <a:cs typeface="Times New Roman" panose="02020603050405020304" pitchFamily="18" charset="0"/>
              </a:rPr>
              <a:t> COUNT(CASE WHEN </a:t>
            </a:r>
            <a:r>
              <a:rPr lang="en-US" b="1" dirty="0" err="1">
                <a:latin typeface="Agency FB" panose="020B0503020202020204" pitchFamily="34" charset="0"/>
                <a:cs typeface="Times New Roman" panose="02020603050405020304" pitchFamily="18" charset="0"/>
              </a:rPr>
              <a:t>Inventory_Level</a:t>
            </a:r>
            <a:r>
              <a:rPr lang="en-US" b="1" dirty="0">
                <a:latin typeface="Agency FB" panose="020B0503020202020204" pitchFamily="34" charset="0"/>
                <a:cs typeface="Times New Roman" panose="02020603050405020304" pitchFamily="18" charset="0"/>
              </a:rPr>
              <a:t> &lt; </a:t>
            </a:r>
            <a:r>
              <a:rPr lang="en-US" b="1" dirty="0" err="1">
                <a:latin typeface="Agency FB" panose="020B0503020202020204" pitchFamily="34" charset="0"/>
                <a:cs typeface="Times New Roman" panose="02020603050405020304" pitchFamily="18" charset="0"/>
              </a:rPr>
              <a:t>Reorder_Point</a:t>
            </a:r>
            <a:r>
              <a:rPr lang="en-US" b="1" dirty="0">
                <a:latin typeface="Agency FB" panose="020B0503020202020204" pitchFamily="34" charset="0"/>
                <a:cs typeface="Times New Roman" panose="02020603050405020304" pitchFamily="18" charset="0"/>
              </a:rPr>
              <a:t> THEN 1 END) AS </a:t>
            </a:r>
            <a:r>
              <a:rPr lang="en-US" b="1" dirty="0" err="1">
                <a:latin typeface="Agency FB" panose="020B0503020202020204" pitchFamily="34" charset="0"/>
                <a:cs typeface="Times New Roman" panose="02020603050405020304" pitchFamily="18" charset="0"/>
              </a:rPr>
              <a:t>Stockout_Frequency</a:t>
            </a:r>
            <a:r>
              <a:rPr lang="en-US" b="1" dirty="0">
                <a:latin typeface="Agency FB" panose="020B0503020202020204" pitchFamily="34" charset="0"/>
                <a:cs typeface="Times New Roman" panose="02020603050405020304" pitchFamily="18" charset="0"/>
              </a:rPr>
              <a:t>_</a:t>
            </a:r>
          </a:p>
          <a:p>
            <a:pPr marL="0" indent="0">
              <a:buNone/>
            </a:pPr>
            <a:r>
              <a:rPr lang="en-US" b="1" dirty="0" err="1">
                <a:latin typeface="Agency FB" panose="020B0503020202020204" pitchFamily="34" charset="0"/>
                <a:cs typeface="Times New Roman" panose="02020603050405020304" pitchFamily="18" charset="0"/>
              </a:rPr>
              <a:t>CountFROM</a:t>
            </a:r>
            <a:r>
              <a:rPr lang="en-US" b="1" dirty="0">
                <a:latin typeface="Agency FB" panose="020B0503020202020204" pitchFamily="34" charset="0"/>
                <a:cs typeface="Times New Roman" panose="02020603050405020304" pitchFamily="18" charset="0"/>
              </a:rPr>
              <a:t> </a:t>
            </a:r>
            <a:r>
              <a:rPr lang="en-US" b="1" dirty="0" err="1">
                <a:latin typeface="Agency FB" panose="020B0503020202020204" pitchFamily="34" charset="0"/>
                <a:cs typeface="Times New Roman" panose="02020603050405020304" pitchFamily="18" charset="0"/>
              </a:rPr>
              <a:t>Retail_Inventory_DataGROUP</a:t>
            </a:r>
            <a:r>
              <a:rPr lang="en-US" b="1" dirty="0">
                <a:latin typeface="Agency FB" panose="020B0503020202020204" pitchFamily="34" charset="0"/>
                <a:cs typeface="Times New Roman" panose="02020603050405020304" pitchFamily="18" charset="0"/>
              </a:rPr>
              <a:t> BY </a:t>
            </a:r>
            <a:r>
              <a:rPr lang="en-US" b="1" dirty="0" err="1">
                <a:latin typeface="Agency FB" panose="020B0503020202020204" pitchFamily="34" charset="0"/>
                <a:cs typeface="Times New Roman" panose="02020603050405020304" pitchFamily="18" charset="0"/>
              </a:rPr>
              <a:t>CategoryORDER</a:t>
            </a:r>
            <a:r>
              <a:rPr lang="en-US" b="1" dirty="0">
                <a:latin typeface="Agency FB" panose="020B0503020202020204" pitchFamily="34" charset="0"/>
                <a:cs typeface="Times New Roman" panose="02020603050405020304" pitchFamily="18" charset="0"/>
              </a:rPr>
              <a:t> BY </a:t>
            </a:r>
            <a:r>
              <a:rPr lang="en-US" b="1" dirty="0" err="1">
                <a:latin typeface="Agency FB" panose="020B0503020202020204" pitchFamily="34" charset="0"/>
                <a:cs typeface="Times New Roman" panose="02020603050405020304" pitchFamily="18" charset="0"/>
              </a:rPr>
              <a:t>Stockout_Frequency_Count</a:t>
            </a:r>
            <a:r>
              <a:rPr lang="en-US" b="1" dirty="0">
                <a:latin typeface="Agency FB" panose="020B0503020202020204" pitchFamily="34" charset="0"/>
                <a:cs typeface="Times New Roman" panose="02020603050405020304" pitchFamily="18" charset="0"/>
              </a:rPr>
              <a:t> DESC;</a:t>
            </a:r>
          </a:p>
        </p:txBody>
      </p:sp>
    </p:spTree>
    <p:extLst>
      <p:ext uri="{BB962C8B-B14F-4D97-AF65-F5344CB8AC3E}">
        <p14:creationId xmlns:p14="http://schemas.microsoft.com/office/powerpoint/2010/main" val="876952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1181-970B-4AD7-BEFD-10B64202892D}"/>
              </a:ext>
            </a:extLst>
          </p:cNvPr>
          <p:cNvSpPr>
            <a:spLocks noGrp="1"/>
          </p:cNvSpPr>
          <p:nvPr>
            <p:ph type="title"/>
          </p:nvPr>
        </p:nvSpPr>
        <p:spPr>
          <a:xfrm>
            <a:off x="1295402" y="699248"/>
            <a:ext cx="9601196" cy="796065"/>
          </a:xfrm>
        </p:spPr>
        <p:txBody>
          <a:bodyPr/>
          <a:lstStyle/>
          <a:p>
            <a:r>
              <a:rPr lang="en-US" b="1" dirty="0">
                <a:latin typeface="Agency FB" panose="020B0503020202020204" pitchFamily="34" charset="0"/>
              </a:rPr>
              <a:t>METHODOLOGY</a:t>
            </a:r>
          </a:p>
        </p:txBody>
      </p:sp>
      <p:sp>
        <p:nvSpPr>
          <p:cNvPr id="3" name="Content Placeholder 2">
            <a:extLst>
              <a:ext uri="{FF2B5EF4-FFF2-40B4-BE49-F238E27FC236}">
                <a16:creationId xmlns:a16="http://schemas.microsoft.com/office/drawing/2014/main" id="{EAE7BC84-A28F-4EB1-BF2C-D455A938E6D8}"/>
              </a:ext>
            </a:extLst>
          </p:cNvPr>
          <p:cNvSpPr>
            <a:spLocks noGrp="1"/>
          </p:cNvSpPr>
          <p:nvPr>
            <p:ph idx="1"/>
          </p:nvPr>
        </p:nvSpPr>
        <p:spPr>
          <a:xfrm>
            <a:off x="1295401" y="2011681"/>
            <a:ext cx="9601196" cy="4270786"/>
          </a:xfrm>
        </p:spPr>
        <p:txBody>
          <a:bodyPr>
            <a:normAutofit/>
          </a:bodyPr>
          <a:lstStyle/>
          <a:p>
            <a:pPr marL="0" indent="0" algn="ctr">
              <a:buNone/>
            </a:pPr>
            <a:r>
              <a:rPr lang="en-US" b="1" u="sng" dirty="0">
                <a:latin typeface="Agency FB" panose="020B0503020202020204" pitchFamily="34" charset="0"/>
                <a:cs typeface="Times New Roman" panose="02020603050405020304" pitchFamily="18" charset="0"/>
              </a:rPr>
              <a:t>Total Stockout Risk Count (DAX Measure):</a:t>
            </a:r>
          </a:p>
          <a:p>
            <a:pPr marL="0" indent="0">
              <a:buNone/>
            </a:pPr>
            <a:r>
              <a:rPr lang="en-US" b="1" dirty="0">
                <a:latin typeface="Agency FB" panose="020B0503020202020204" pitchFamily="34" charset="0"/>
                <a:cs typeface="Times New Roman" panose="02020603050405020304" pitchFamily="18" charset="0"/>
              </a:rPr>
              <a:t>Stockout Risk Count = CALCULATE(DISTINCTCOUNT('</a:t>
            </a:r>
            <a:r>
              <a:rPr lang="en-US" b="1" dirty="0" err="1">
                <a:latin typeface="Agency FB" panose="020B0503020202020204" pitchFamily="34" charset="0"/>
                <a:cs typeface="Times New Roman" panose="02020603050405020304" pitchFamily="18" charset="0"/>
              </a:rPr>
              <a:t>Retail_Inventory_Data</a:t>
            </a:r>
            <a:r>
              <a:rPr lang="en-US" b="1" dirty="0">
                <a:latin typeface="Agency FB" panose="020B0503020202020204" pitchFamily="34" charset="0"/>
                <a:cs typeface="Times New Roman" panose="02020603050405020304" pitchFamily="18" charset="0"/>
              </a:rPr>
              <a:t>'[Product ID]), FILTER('</a:t>
            </a:r>
            <a:r>
              <a:rPr lang="en-US" b="1" dirty="0" err="1">
                <a:latin typeface="Agency FB" panose="020B0503020202020204" pitchFamily="34" charset="0"/>
                <a:cs typeface="Times New Roman" panose="02020603050405020304" pitchFamily="18" charset="0"/>
              </a:rPr>
              <a:t>Retail_Inventory_Data’,DIVIDE</a:t>
            </a:r>
            <a:r>
              <a:rPr lang="en-US" b="1" dirty="0">
                <a:latin typeface="Agency FB" panose="020B0503020202020204" pitchFamily="34" charset="0"/>
                <a:cs typeface="Times New Roman" panose="02020603050405020304" pitchFamily="18" charset="0"/>
              </a:rPr>
              <a:t>('</a:t>
            </a:r>
            <a:r>
              <a:rPr lang="en-US" b="1" dirty="0" err="1">
                <a:latin typeface="Agency FB" panose="020B0503020202020204" pitchFamily="34" charset="0"/>
                <a:cs typeface="Times New Roman" panose="02020603050405020304" pitchFamily="18" charset="0"/>
              </a:rPr>
              <a:t>Retail_Inventory_Data</a:t>
            </a:r>
            <a:r>
              <a:rPr lang="en-US" b="1" dirty="0">
                <a:latin typeface="Agency FB" panose="020B0503020202020204" pitchFamily="34" charset="0"/>
                <a:cs typeface="Times New Roman" panose="02020603050405020304" pitchFamily="18" charset="0"/>
              </a:rPr>
              <a:t>'[Inventory Level], '</a:t>
            </a:r>
            <a:r>
              <a:rPr lang="en-US" b="1" dirty="0" err="1">
                <a:latin typeface="Agency FB" panose="020B0503020202020204" pitchFamily="34" charset="0"/>
                <a:cs typeface="Times New Roman" panose="02020603050405020304" pitchFamily="18" charset="0"/>
              </a:rPr>
              <a:t>Retail_Inventory_Data</a:t>
            </a:r>
            <a:r>
              <a:rPr lang="en-US" b="1" dirty="0">
                <a:latin typeface="Agency FB" panose="020B0503020202020204" pitchFamily="34" charset="0"/>
                <a:cs typeface="Times New Roman" panose="02020603050405020304" pitchFamily="18" charset="0"/>
              </a:rPr>
              <a:t>'[</a:t>
            </a:r>
            <a:r>
              <a:rPr lang="en-US" b="1" dirty="0" err="1">
                <a:latin typeface="Agency FB" panose="020B0503020202020204" pitchFamily="34" charset="0"/>
                <a:cs typeface="Times New Roman" panose="02020603050405020304" pitchFamily="18" charset="0"/>
              </a:rPr>
              <a:t>Units_Sold</a:t>
            </a:r>
            <a:r>
              <a:rPr lang="en-US" b="1" dirty="0">
                <a:latin typeface="Agency FB" panose="020B0503020202020204" pitchFamily="34" charset="0"/>
                <a:cs typeface="Times New Roman" panose="02020603050405020304" pitchFamily="18" charset="0"/>
              </a:rPr>
              <a:t>], 0) &lt; 7))</a:t>
            </a:r>
          </a:p>
          <a:p>
            <a:pPr marL="0" indent="0" algn="ctr">
              <a:buNone/>
            </a:pPr>
            <a:r>
              <a:rPr lang="en-US" b="1" u="sng" dirty="0">
                <a:latin typeface="Agency FB" panose="020B0503020202020204" pitchFamily="34" charset="0"/>
                <a:cs typeface="Times New Roman" panose="02020603050405020304" pitchFamily="18" charset="0"/>
              </a:rPr>
              <a:t>Active Dead Stock Assets (DAX Measure):</a:t>
            </a:r>
            <a:endParaRPr lang="en-US" b="1" dirty="0">
              <a:latin typeface="Agency FB" panose="020B0503020202020204" pitchFamily="34" charset="0"/>
              <a:cs typeface="Times New Roman" panose="02020603050405020304" pitchFamily="18" charset="0"/>
            </a:endParaRPr>
          </a:p>
          <a:p>
            <a:pPr marL="0" indent="0">
              <a:buNone/>
            </a:pPr>
            <a:r>
              <a:rPr lang="en-US" b="1" dirty="0">
                <a:latin typeface="Agency FB" panose="020B0503020202020204" pitchFamily="34" charset="0"/>
                <a:cs typeface="Times New Roman" panose="02020603050405020304" pitchFamily="18" charset="0"/>
              </a:rPr>
              <a:t>Dead Stock Count = CALCULATE(DISTINCTCOUNT('</a:t>
            </a:r>
            <a:r>
              <a:rPr lang="en-US" b="1" dirty="0" err="1">
                <a:latin typeface="Agency FB" panose="020B0503020202020204" pitchFamily="34" charset="0"/>
                <a:cs typeface="Times New Roman" panose="02020603050405020304" pitchFamily="18" charset="0"/>
              </a:rPr>
              <a:t>Retail_Inventory_Data</a:t>
            </a:r>
            <a:r>
              <a:rPr lang="en-US" b="1" dirty="0">
                <a:latin typeface="Agency FB" panose="020B0503020202020204" pitchFamily="34" charset="0"/>
                <a:cs typeface="Times New Roman" panose="02020603050405020304" pitchFamily="18" charset="0"/>
              </a:rPr>
              <a:t>'[Product ID]), '</a:t>
            </a:r>
            <a:r>
              <a:rPr lang="en-US" b="1" dirty="0" err="1">
                <a:latin typeface="Agency FB" panose="020B0503020202020204" pitchFamily="34" charset="0"/>
                <a:cs typeface="Times New Roman" panose="02020603050405020304" pitchFamily="18" charset="0"/>
              </a:rPr>
              <a:t>Retail_Inventory_Data</a:t>
            </a:r>
            <a:r>
              <a:rPr lang="en-US" b="1" dirty="0">
                <a:latin typeface="Agency FB" panose="020B0503020202020204" pitchFamily="34" charset="0"/>
                <a:cs typeface="Times New Roman" panose="02020603050405020304" pitchFamily="18" charset="0"/>
              </a:rPr>
              <a:t>'[</a:t>
            </a:r>
            <a:r>
              <a:rPr lang="en-US" b="1" dirty="0" err="1">
                <a:latin typeface="Agency FB" panose="020B0503020202020204" pitchFamily="34" charset="0"/>
                <a:cs typeface="Times New Roman" panose="02020603050405020304" pitchFamily="18" charset="0"/>
              </a:rPr>
              <a:t>Units_Sold</a:t>
            </a:r>
            <a:r>
              <a:rPr lang="en-US" b="1" dirty="0">
                <a:latin typeface="Agency FB" panose="020B0503020202020204" pitchFamily="34" charset="0"/>
                <a:cs typeface="Times New Roman" panose="02020603050405020304" pitchFamily="18" charset="0"/>
              </a:rPr>
              <a:t>] = 0)</a:t>
            </a:r>
          </a:p>
          <a:p>
            <a:pPr marL="0" indent="0">
              <a:buNone/>
            </a:pPr>
            <a:endParaRPr lang="en-US" b="1" dirty="0">
              <a:latin typeface="Agency FB" panose="020B0503020202020204" pitchFamily="34" charset="0"/>
              <a:cs typeface="Times New Roman" panose="02020603050405020304" pitchFamily="18" charset="0"/>
            </a:endParaRPr>
          </a:p>
        </p:txBody>
      </p:sp>
    </p:spTree>
    <p:extLst>
      <p:ext uri="{BB962C8B-B14F-4D97-AF65-F5344CB8AC3E}">
        <p14:creationId xmlns:p14="http://schemas.microsoft.com/office/powerpoint/2010/main" val="191270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FD35D-5DF1-40EB-BC56-F3EA9E32BDBC}"/>
              </a:ext>
            </a:extLst>
          </p:cNvPr>
          <p:cNvSpPr>
            <a:spLocks noGrp="1"/>
          </p:cNvSpPr>
          <p:nvPr>
            <p:ph type="title"/>
          </p:nvPr>
        </p:nvSpPr>
        <p:spPr/>
        <p:txBody>
          <a:bodyPr/>
          <a:lstStyle/>
          <a:p>
            <a:r>
              <a:rPr lang="en-US" b="1" dirty="0">
                <a:latin typeface="Agency FB" panose="020B0503020202020204" pitchFamily="34" charset="0"/>
              </a:rPr>
              <a:t>METHODOLOGY</a:t>
            </a:r>
          </a:p>
        </p:txBody>
      </p:sp>
      <p:sp>
        <p:nvSpPr>
          <p:cNvPr id="3" name="Content Placeholder 2">
            <a:extLst>
              <a:ext uri="{FF2B5EF4-FFF2-40B4-BE49-F238E27FC236}">
                <a16:creationId xmlns:a16="http://schemas.microsoft.com/office/drawing/2014/main" id="{055D212B-384E-4C09-812C-697133E55C4D}"/>
              </a:ext>
            </a:extLst>
          </p:cNvPr>
          <p:cNvSpPr>
            <a:spLocks noGrp="1"/>
          </p:cNvSpPr>
          <p:nvPr>
            <p:ph idx="1"/>
          </p:nvPr>
        </p:nvSpPr>
        <p:spPr/>
        <p:txBody>
          <a:bodyPr/>
          <a:lstStyle/>
          <a:p>
            <a:pPr marL="0" indent="0" algn="ctr">
              <a:buNone/>
            </a:pPr>
            <a:r>
              <a:rPr lang="en-US" u="sng" dirty="0">
                <a:effectLst>
                  <a:outerShdw blurRad="38100" dist="38100" dir="2700000" algn="tl">
                    <a:srgbClr val="000000">
                      <a:alpha val="43137"/>
                    </a:srgbClr>
                  </a:outerShdw>
                </a:effectLst>
                <a:latin typeface="Agency FB" panose="020B0503020202020204" pitchFamily="34" charset="0"/>
              </a:rPr>
              <a:t>Average Days of Cover Global (DAX Measure):</a:t>
            </a:r>
          </a:p>
          <a:p>
            <a:pPr marL="0" indent="0">
              <a:buNone/>
            </a:pPr>
            <a:r>
              <a:rPr lang="en-US" dirty="0">
                <a:latin typeface="Agency FB" panose="020B0503020202020204" pitchFamily="34" charset="0"/>
              </a:rPr>
              <a:t>Avg Days of Cover = AVERAGEX(FILTER('</a:t>
            </a:r>
            <a:r>
              <a:rPr lang="en-US" dirty="0" err="1">
                <a:latin typeface="Agency FB" panose="020B0503020202020204" pitchFamily="34" charset="0"/>
              </a:rPr>
              <a:t>Retail_Inventory_Data</a:t>
            </a:r>
            <a:r>
              <a:rPr lang="en-US" dirty="0">
                <a:latin typeface="Agency FB" panose="020B0503020202020204" pitchFamily="34" charset="0"/>
              </a:rPr>
              <a:t>', '</a:t>
            </a:r>
            <a:r>
              <a:rPr lang="en-US" dirty="0" err="1">
                <a:latin typeface="Agency FB" panose="020B0503020202020204" pitchFamily="34" charset="0"/>
              </a:rPr>
              <a:t>Retail_Inventory_Data</a:t>
            </a:r>
            <a:r>
              <a:rPr lang="en-US" dirty="0">
                <a:latin typeface="Agency FB" panose="020B0503020202020204" pitchFamily="34" charset="0"/>
              </a:rPr>
              <a:t>'[</a:t>
            </a:r>
            <a:r>
              <a:rPr lang="en-US" dirty="0" err="1">
                <a:latin typeface="Agency FB" panose="020B0503020202020204" pitchFamily="34" charset="0"/>
              </a:rPr>
              <a:t>Units_Sold</a:t>
            </a:r>
            <a:r>
              <a:rPr lang="en-US" dirty="0">
                <a:latin typeface="Agency FB" panose="020B0503020202020204" pitchFamily="34" charset="0"/>
              </a:rPr>
              <a:t>] &gt; 0), DIVIDE('</a:t>
            </a:r>
            <a:r>
              <a:rPr lang="en-US" dirty="0" err="1">
                <a:latin typeface="Agency FB" panose="020B0503020202020204" pitchFamily="34" charset="0"/>
              </a:rPr>
              <a:t>Retail_Inventory_Data</a:t>
            </a:r>
            <a:r>
              <a:rPr lang="en-US" dirty="0">
                <a:latin typeface="Agency FB" panose="020B0503020202020204" pitchFamily="34" charset="0"/>
              </a:rPr>
              <a:t>'[Inventory Level], '</a:t>
            </a:r>
            <a:r>
              <a:rPr lang="en-US" dirty="0" err="1">
                <a:latin typeface="Agency FB" panose="020B0503020202020204" pitchFamily="34" charset="0"/>
              </a:rPr>
              <a:t>Retail_Inventory_Data</a:t>
            </a:r>
            <a:r>
              <a:rPr lang="en-US" dirty="0">
                <a:latin typeface="Agency FB" panose="020B0503020202020204" pitchFamily="34" charset="0"/>
              </a:rPr>
              <a:t>'[</a:t>
            </a:r>
            <a:r>
              <a:rPr lang="en-US" dirty="0" err="1">
                <a:latin typeface="Agency FB" panose="020B0503020202020204" pitchFamily="34" charset="0"/>
              </a:rPr>
              <a:t>Units_Sold</a:t>
            </a:r>
            <a:r>
              <a:rPr lang="en-US" dirty="0">
                <a:latin typeface="Agency FB" panose="020B0503020202020204" pitchFamily="34" charset="0"/>
              </a:rPr>
              <a:t>]))</a:t>
            </a:r>
          </a:p>
        </p:txBody>
      </p:sp>
    </p:spTree>
    <p:extLst>
      <p:ext uri="{BB962C8B-B14F-4D97-AF65-F5344CB8AC3E}">
        <p14:creationId xmlns:p14="http://schemas.microsoft.com/office/powerpoint/2010/main" val="3947153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06249-E7A1-4ED9-83B6-CC591E12C663}"/>
              </a:ext>
            </a:extLst>
          </p:cNvPr>
          <p:cNvSpPr>
            <a:spLocks noGrp="1"/>
          </p:cNvSpPr>
          <p:nvPr>
            <p:ph type="title"/>
          </p:nvPr>
        </p:nvSpPr>
        <p:spPr/>
        <p:txBody>
          <a:bodyPr/>
          <a:lstStyle/>
          <a:p>
            <a:r>
              <a:rPr lang="en-US" b="1" dirty="0">
                <a:latin typeface="Agency FB" panose="020B0503020202020204" pitchFamily="34" charset="0"/>
              </a:rPr>
              <a:t>ANALYSIS</a:t>
            </a:r>
          </a:p>
        </p:txBody>
      </p:sp>
      <p:pic>
        <p:nvPicPr>
          <p:cNvPr id="14" name="Content Placeholder 13">
            <a:extLst>
              <a:ext uri="{FF2B5EF4-FFF2-40B4-BE49-F238E27FC236}">
                <a16:creationId xmlns:a16="http://schemas.microsoft.com/office/drawing/2014/main" id="{AE7C4B65-EE10-44E8-A2A4-C69BC203F0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1514" y="2557463"/>
            <a:ext cx="5828971" cy="3317875"/>
          </a:xfrm>
        </p:spPr>
      </p:pic>
    </p:spTree>
    <p:extLst>
      <p:ext uri="{BB962C8B-B14F-4D97-AF65-F5344CB8AC3E}">
        <p14:creationId xmlns:p14="http://schemas.microsoft.com/office/powerpoint/2010/main" val="354808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E59F-CDE2-47A4-9941-0B7340BF03F8}"/>
              </a:ext>
            </a:extLst>
          </p:cNvPr>
          <p:cNvSpPr>
            <a:spLocks noGrp="1"/>
          </p:cNvSpPr>
          <p:nvPr>
            <p:ph type="title"/>
          </p:nvPr>
        </p:nvSpPr>
        <p:spPr/>
        <p:txBody>
          <a:bodyPr/>
          <a:lstStyle/>
          <a:p>
            <a:r>
              <a:rPr lang="en-US" b="1" dirty="0">
                <a:latin typeface="Agency FB" panose="020B0503020202020204" pitchFamily="34" charset="0"/>
              </a:rPr>
              <a:t>ANALYSIS</a:t>
            </a:r>
          </a:p>
        </p:txBody>
      </p:sp>
      <p:sp>
        <p:nvSpPr>
          <p:cNvPr id="3" name="Content Placeholder 2">
            <a:extLst>
              <a:ext uri="{FF2B5EF4-FFF2-40B4-BE49-F238E27FC236}">
                <a16:creationId xmlns:a16="http://schemas.microsoft.com/office/drawing/2014/main" id="{0920D76B-2919-4F2A-A858-7A90C1BA8DC1}"/>
              </a:ext>
            </a:extLst>
          </p:cNvPr>
          <p:cNvSpPr>
            <a:spLocks noGrp="1"/>
          </p:cNvSpPr>
          <p:nvPr>
            <p:ph idx="1"/>
          </p:nvPr>
        </p:nvSpPr>
        <p:spPr/>
        <p:txBody>
          <a:bodyPr/>
          <a:lstStyle/>
          <a:p>
            <a:r>
              <a:rPr lang="en-US" b="1" dirty="0">
                <a:latin typeface="Agency FB" panose="020B0503020202020204" pitchFamily="34" charset="0"/>
                <a:cs typeface="Times New Roman" panose="02020603050405020304" pitchFamily="18" charset="0"/>
              </a:rPr>
              <a:t> Visual Layout Components: A Category Turnover Bar Chart to compare department speed, a Granular Health Ledger table utilizing traffic light status icons, and an interactive Drill-Through feature linking macro views directly to specific supplier lead times.</a:t>
            </a:r>
          </a:p>
          <a:p>
            <a:r>
              <a:rPr lang="en-US" b="1" dirty="0">
                <a:latin typeface="Agency FB" panose="020B0503020202020204" pitchFamily="34" charset="0"/>
                <a:cs typeface="Times New Roman" panose="02020603050405020304" pitchFamily="18" charset="0"/>
              </a:rPr>
              <a:t>KPI Overview: Report total counts of # Stockout Risk, # Dead Stock, and Avg Days of Cover.</a:t>
            </a:r>
          </a:p>
          <a:p>
            <a:endParaRPr lang="en-US" b="1" dirty="0">
              <a:latin typeface="Agency FB" panose="020B0503020202020204" pitchFamily="34" charset="0"/>
              <a:cs typeface="Times New Roman" panose="02020603050405020304" pitchFamily="18" charset="0"/>
            </a:endParaRPr>
          </a:p>
        </p:txBody>
      </p:sp>
    </p:spTree>
    <p:extLst>
      <p:ext uri="{BB962C8B-B14F-4D97-AF65-F5344CB8AC3E}">
        <p14:creationId xmlns:p14="http://schemas.microsoft.com/office/powerpoint/2010/main" val="35542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FA23-2438-4803-AC14-3C880EB73C1E}"/>
              </a:ext>
            </a:extLst>
          </p:cNvPr>
          <p:cNvSpPr>
            <a:spLocks noGrp="1"/>
          </p:cNvSpPr>
          <p:nvPr>
            <p:ph type="title"/>
          </p:nvPr>
        </p:nvSpPr>
        <p:spPr/>
        <p:txBody>
          <a:bodyPr/>
          <a:lstStyle/>
          <a:p>
            <a:r>
              <a:rPr lang="en-US" b="1" dirty="0">
                <a:latin typeface="Agency FB" panose="020B0503020202020204" pitchFamily="34" charset="0"/>
              </a:rPr>
              <a:t>ANALYSIS</a:t>
            </a:r>
          </a:p>
        </p:txBody>
      </p:sp>
      <p:sp>
        <p:nvSpPr>
          <p:cNvPr id="3" name="Content Placeholder 2">
            <a:extLst>
              <a:ext uri="{FF2B5EF4-FFF2-40B4-BE49-F238E27FC236}">
                <a16:creationId xmlns:a16="http://schemas.microsoft.com/office/drawing/2014/main" id="{210D1265-1FBD-47B6-BA90-0A45E7B1943C}"/>
              </a:ext>
            </a:extLst>
          </p:cNvPr>
          <p:cNvSpPr>
            <a:spLocks noGrp="1"/>
          </p:cNvSpPr>
          <p:nvPr>
            <p:ph idx="1"/>
          </p:nvPr>
        </p:nvSpPr>
        <p:spPr/>
        <p:txBody>
          <a:bodyPr/>
          <a:lstStyle/>
          <a:p>
            <a:pPr algn="ctr"/>
            <a:r>
              <a:rPr lang="en-US" b="1" u="sng" dirty="0">
                <a:latin typeface="Agency FB" panose="020B0503020202020204" pitchFamily="34" charset="0"/>
                <a:cs typeface="Times New Roman" panose="02020603050405020304" pitchFamily="18" charset="0"/>
              </a:rPr>
              <a:t>Category Breakdown:</a:t>
            </a:r>
          </a:p>
          <a:p>
            <a:pPr>
              <a:buFont typeface="Wingdings" panose="05000000000000000000" pitchFamily="2" charset="2"/>
              <a:buChar char="§"/>
            </a:pPr>
            <a:r>
              <a:rPr lang="en-US" b="1" dirty="0">
                <a:latin typeface="Agency FB" panose="020B0503020202020204" pitchFamily="34" charset="0"/>
                <a:cs typeface="Times New Roman" panose="02020603050405020304" pitchFamily="18" charset="0"/>
              </a:rPr>
              <a:t>CLOTHING: Based on the analysis, the clothing category has been on the rise by having the highest stockout risk.</a:t>
            </a:r>
          </a:p>
          <a:p>
            <a:pPr marL="0" indent="0">
              <a:buNone/>
            </a:pPr>
            <a:r>
              <a:rPr lang="en-US" b="1" dirty="0">
                <a:latin typeface="Agency FB" panose="020B0503020202020204" pitchFamily="34" charset="0"/>
                <a:cs typeface="Times New Roman" panose="02020603050405020304" pitchFamily="18" charset="0"/>
              </a:rPr>
              <a:t> This indicates that, the clothing category was has seen the highest number of turnover, and customers would go all in despite the product type.  </a:t>
            </a:r>
          </a:p>
        </p:txBody>
      </p:sp>
    </p:spTree>
    <p:extLst>
      <p:ext uri="{BB962C8B-B14F-4D97-AF65-F5344CB8AC3E}">
        <p14:creationId xmlns:p14="http://schemas.microsoft.com/office/powerpoint/2010/main" val="2400062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0766-7070-4C91-9F09-F23919D3B291}"/>
              </a:ext>
            </a:extLst>
          </p:cNvPr>
          <p:cNvSpPr>
            <a:spLocks noGrp="1"/>
          </p:cNvSpPr>
          <p:nvPr>
            <p:ph type="title"/>
          </p:nvPr>
        </p:nvSpPr>
        <p:spPr/>
        <p:txBody>
          <a:bodyPr/>
          <a:lstStyle/>
          <a:p>
            <a:r>
              <a:rPr lang="en-US" b="1" dirty="0">
                <a:latin typeface="Agency FB" panose="020B0503020202020204" pitchFamily="34" charset="0"/>
              </a:rPr>
              <a:t>ANALYSIS</a:t>
            </a:r>
          </a:p>
        </p:txBody>
      </p:sp>
      <p:sp>
        <p:nvSpPr>
          <p:cNvPr id="3" name="Content Placeholder 2">
            <a:extLst>
              <a:ext uri="{FF2B5EF4-FFF2-40B4-BE49-F238E27FC236}">
                <a16:creationId xmlns:a16="http://schemas.microsoft.com/office/drawing/2014/main" id="{9C3109AB-BF82-41F8-893F-3CA05498C9B7}"/>
              </a:ext>
            </a:extLst>
          </p:cNvPr>
          <p:cNvSpPr>
            <a:spLocks noGrp="1"/>
          </p:cNvSpPr>
          <p:nvPr>
            <p:ph idx="1"/>
          </p:nvPr>
        </p:nvSpPr>
        <p:spPr/>
        <p:txBody>
          <a:bodyPr/>
          <a:lstStyle/>
          <a:p>
            <a:pPr algn="ctr"/>
            <a:r>
              <a:rPr lang="en-US" b="1" dirty="0">
                <a:latin typeface="Agency FB" panose="020B0503020202020204" pitchFamily="34" charset="0"/>
                <a:cs typeface="Times New Roman" panose="02020603050405020304" pitchFamily="18" charset="0"/>
              </a:rPr>
              <a:t>Replenishment Table:</a:t>
            </a:r>
          </a:p>
          <a:p>
            <a:pPr marL="0" indent="0">
              <a:buNone/>
            </a:pPr>
            <a:r>
              <a:rPr lang="en-US" b="1" dirty="0">
                <a:latin typeface="Agency FB" panose="020B0503020202020204" pitchFamily="34" charset="0"/>
                <a:cs typeface="Times New Roman" panose="02020603050405020304" pitchFamily="18" charset="0"/>
              </a:rPr>
              <a:t>The conditional formatting (Red/Amber/Green) and drill-through features of the </a:t>
            </a:r>
            <a:r>
              <a:rPr lang="en-US" b="1" dirty="0" err="1">
                <a:latin typeface="Agency FB" panose="020B0503020202020204" pitchFamily="34" charset="0"/>
                <a:cs typeface="Times New Roman" panose="02020603050405020304" pitchFamily="18" charset="0"/>
              </a:rPr>
              <a:t>powerBI</a:t>
            </a:r>
            <a:r>
              <a:rPr lang="en-US" b="1" dirty="0">
                <a:latin typeface="Agency FB" panose="020B0503020202020204" pitchFamily="34" charset="0"/>
                <a:cs typeface="Times New Roman" panose="02020603050405020304" pitchFamily="18" charset="0"/>
              </a:rPr>
              <a:t> help inventory managers make daily decisions, on which </a:t>
            </a:r>
            <a:r>
              <a:rPr lang="en-US" b="1" dirty="0" err="1">
                <a:latin typeface="Agency FB" panose="020B0503020202020204" pitchFamily="34" charset="0"/>
                <a:cs typeface="Times New Roman" panose="02020603050405020304" pitchFamily="18" charset="0"/>
              </a:rPr>
              <a:t>prodct</a:t>
            </a:r>
            <a:r>
              <a:rPr lang="en-US" b="1" dirty="0">
                <a:latin typeface="Agency FB" panose="020B0503020202020204" pitchFamily="34" charset="0"/>
                <a:cs typeface="Times New Roman" panose="02020603050405020304" pitchFamily="18" charset="0"/>
              </a:rPr>
              <a:t> to focus more on and avoid spending massive amount of money of dead stock goods, this helps quickly spot product types that customers prefer and with this giving the company good revenues.</a:t>
            </a:r>
          </a:p>
        </p:txBody>
      </p:sp>
    </p:spTree>
    <p:extLst>
      <p:ext uri="{BB962C8B-B14F-4D97-AF65-F5344CB8AC3E}">
        <p14:creationId xmlns:p14="http://schemas.microsoft.com/office/powerpoint/2010/main" val="1885429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01E5F-76DF-4D72-8EA3-998A4FB1CF77}"/>
              </a:ext>
            </a:extLst>
          </p:cNvPr>
          <p:cNvSpPr>
            <a:spLocks noGrp="1"/>
          </p:cNvSpPr>
          <p:nvPr>
            <p:ph type="title"/>
          </p:nvPr>
        </p:nvSpPr>
        <p:spPr/>
        <p:txBody>
          <a:bodyPr/>
          <a:lstStyle/>
          <a:p>
            <a:r>
              <a:rPr lang="en-US" b="1" dirty="0">
                <a:latin typeface="Agency FB" panose="020B0503020202020204" pitchFamily="34" charset="0"/>
              </a:rPr>
              <a:t>STRATEGIC INSIGHTS</a:t>
            </a:r>
            <a:endParaRPr lang="en-US" b="1" dirty="0"/>
          </a:p>
        </p:txBody>
      </p:sp>
      <p:sp>
        <p:nvSpPr>
          <p:cNvPr id="3" name="Content Placeholder 2">
            <a:extLst>
              <a:ext uri="{FF2B5EF4-FFF2-40B4-BE49-F238E27FC236}">
                <a16:creationId xmlns:a16="http://schemas.microsoft.com/office/drawing/2014/main" id="{B8C64F49-A2C5-4F98-AFF0-A88D8000BBE0}"/>
              </a:ext>
            </a:extLst>
          </p:cNvPr>
          <p:cNvSpPr>
            <a:spLocks noGrp="1"/>
          </p:cNvSpPr>
          <p:nvPr>
            <p:ph idx="1"/>
          </p:nvPr>
        </p:nvSpPr>
        <p:spPr/>
        <p:txBody>
          <a:bodyPr/>
          <a:lstStyle/>
          <a:p>
            <a:r>
              <a:rPr lang="en-US" b="1" dirty="0">
                <a:latin typeface="Agency FB" panose="020B0503020202020204" pitchFamily="34" charset="0"/>
              </a:rPr>
              <a:t>Insight 1: from my analysis [10+] high-priority products are currently in the critical 🔴 Rust Red zone, requiring immediate reorders.</a:t>
            </a:r>
          </a:p>
          <a:p>
            <a:r>
              <a:rPr lang="en-US" b="1" dirty="0">
                <a:latin typeface="Agency FB" panose="020B0503020202020204" pitchFamily="34" charset="0"/>
              </a:rPr>
              <a:t>Insight 2: over [1000+] dead stock items are stalling warehouse cash flow; recommended for quick promo liquidations.</a:t>
            </a:r>
          </a:p>
          <a:p>
            <a:r>
              <a:rPr lang="en-US" b="1" dirty="0">
                <a:latin typeface="Agency FB" panose="020B0503020202020204" pitchFamily="34" charset="0"/>
              </a:rPr>
              <a:t>Insight 3: from my analysis the [clothing] department showed the highest stockout frequency, proving a clear need for increased safety stock buffers.</a:t>
            </a:r>
          </a:p>
        </p:txBody>
      </p:sp>
    </p:spTree>
    <p:extLst>
      <p:ext uri="{BB962C8B-B14F-4D97-AF65-F5344CB8AC3E}">
        <p14:creationId xmlns:p14="http://schemas.microsoft.com/office/powerpoint/2010/main" val="2181244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D9493-D96E-4AE5-9531-D767B149FE59}"/>
              </a:ext>
            </a:extLst>
          </p:cNvPr>
          <p:cNvSpPr>
            <a:spLocks noGrp="1"/>
          </p:cNvSpPr>
          <p:nvPr>
            <p:ph type="title"/>
          </p:nvPr>
        </p:nvSpPr>
        <p:spPr/>
        <p:txBody>
          <a:bodyPr>
            <a:normAutofit/>
          </a:bodyPr>
          <a:lstStyle/>
          <a:p>
            <a:r>
              <a:rPr lang="en-US" b="1" dirty="0">
                <a:latin typeface="Agency FB" panose="020B0503020202020204" pitchFamily="34" charset="0"/>
              </a:rPr>
              <a:t>Strategic Recommendations</a:t>
            </a:r>
          </a:p>
        </p:txBody>
      </p:sp>
      <p:sp>
        <p:nvSpPr>
          <p:cNvPr id="3" name="Content Placeholder 2">
            <a:extLst>
              <a:ext uri="{FF2B5EF4-FFF2-40B4-BE49-F238E27FC236}">
                <a16:creationId xmlns:a16="http://schemas.microsoft.com/office/drawing/2014/main" id="{37C74421-2EF3-4F6A-B274-64DF817ED34E}"/>
              </a:ext>
            </a:extLst>
          </p:cNvPr>
          <p:cNvSpPr>
            <a:spLocks noGrp="1"/>
          </p:cNvSpPr>
          <p:nvPr>
            <p:ph idx="1"/>
          </p:nvPr>
        </p:nvSpPr>
        <p:spPr/>
        <p:txBody>
          <a:bodyPr/>
          <a:lstStyle/>
          <a:p>
            <a:r>
              <a:rPr lang="en-US" b="1" dirty="0">
                <a:latin typeface="Agency FB" panose="020B0503020202020204" pitchFamily="34" charset="0"/>
              </a:rPr>
              <a:t>Immediate Action: Replenish "Red" status products immediately, prioritizing items with the highest sales velocity</a:t>
            </a:r>
          </a:p>
          <a:p>
            <a:r>
              <a:rPr lang="en-US" b="1" dirty="0">
                <a:latin typeface="Agency FB" panose="020B0503020202020204" pitchFamily="34" charset="0"/>
              </a:rPr>
              <a:t>Dead Stock Liquidation: Run promotions, discounts, or bundles for the items identified with zero sales in 60+ days to free up warehouse space.</a:t>
            </a:r>
          </a:p>
          <a:p>
            <a:r>
              <a:rPr lang="en-US" b="1" dirty="0">
                <a:latin typeface="Agency FB" panose="020B0503020202020204" pitchFamily="34" charset="0"/>
              </a:rPr>
              <a:t>Supply Chain Adjustments: Review supplier lead times for categories with consistently low days of cover to adjust reorder points.</a:t>
            </a:r>
          </a:p>
        </p:txBody>
      </p:sp>
    </p:spTree>
    <p:extLst>
      <p:ext uri="{BB962C8B-B14F-4D97-AF65-F5344CB8AC3E}">
        <p14:creationId xmlns:p14="http://schemas.microsoft.com/office/powerpoint/2010/main" val="3115341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CBFAF-8F66-408A-8F2A-44FCDC5E70EA}"/>
              </a:ext>
            </a:extLst>
          </p:cNvPr>
          <p:cNvSpPr>
            <a:spLocks noGrp="1"/>
          </p:cNvSpPr>
          <p:nvPr>
            <p:ph type="title"/>
          </p:nvPr>
        </p:nvSpPr>
        <p:spPr/>
        <p:txBody>
          <a:bodyPr/>
          <a:lstStyle/>
          <a:p>
            <a:r>
              <a:rPr lang="en-US" b="1" dirty="0">
                <a:latin typeface="Agency FB" panose="020B0503020202020204" pitchFamily="34" charset="0"/>
              </a:rPr>
              <a:t> Strategic Recommendations</a:t>
            </a:r>
          </a:p>
        </p:txBody>
      </p:sp>
      <p:sp>
        <p:nvSpPr>
          <p:cNvPr id="3" name="Content Placeholder 2">
            <a:extLst>
              <a:ext uri="{FF2B5EF4-FFF2-40B4-BE49-F238E27FC236}">
                <a16:creationId xmlns:a16="http://schemas.microsoft.com/office/drawing/2014/main" id="{4D4C868B-D501-4323-BE5A-214A9E2147C8}"/>
              </a:ext>
            </a:extLst>
          </p:cNvPr>
          <p:cNvSpPr>
            <a:spLocks noGrp="1"/>
          </p:cNvSpPr>
          <p:nvPr>
            <p:ph idx="1"/>
          </p:nvPr>
        </p:nvSpPr>
        <p:spPr/>
        <p:txBody>
          <a:bodyPr/>
          <a:lstStyle/>
          <a:p>
            <a:r>
              <a:rPr lang="en-US" b="1" dirty="0">
                <a:latin typeface="Agency FB" panose="020B0503020202020204" pitchFamily="34" charset="0"/>
              </a:rPr>
              <a:t> Scheduled Refreshes: Connect the SQL query framework directly to live data pipelines to refresh daily.</a:t>
            </a:r>
          </a:p>
          <a:p>
            <a:r>
              <a:rPr lang="en-US" b="1" dirty="0">
                <a:latin typeface="Agency FB" panose="020B0503020202020204" pitchFamily="34" charset="0"/>
              </a:rPr>
              <a:t>. Automated Alerts: Set up email flags when key SKU lines drop past the Muted Gold Amber boundary lines.</a:t>
            </a:r>
          </a:p>
          <a:p>
            <a:r>
              <a:rPr lang="en-US" b="1" dirty="0">
                <a:latin typeface="Agency FB" panose="020B0503020202020204" pitchFamily="34" charset="0"/>
              </a:rPr>
              <a:t>. Supplier Reviews: Use documented category stockout counts to run data-backed performance reviews with underperforming supplier networks.</a:t>
            </a:r>
          </a:p>
        </p:txBody>
      </p:sp>
    </p:spTree>
    <p:extLst>
      <p:ext uri="{BB962C8B-B14F-4D97-AF65-F5344CB8AC3E}">
        <p14:creationId xmlns:p14="http://schemas.microsoft.com/office/powerpoint/2010/main" val="9684359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150</TotalTime>
  <Words>1147</Words>
  <Application>Microsoft Office PowerPoint</Application>
  <PresentationFormat>Widescreen</PresentationFormat>
  <Paragraphs>82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Agency FB</vt:lpstr>
      <vt:lpstr>Arial</vt:lpstr>
      <vt:lpstr>Garamond</vt:lpstr>
      <vt:lpstr>Wingdings</vt:lpstr>
      <vt:lpstr>Organic</vt:lpstr>
      <vt:lpstr>RETAIL STORE INVENTORY FORECAST AN STOCKOUT RISK ANALYSIS</vt:lpstr>
      <vt:lpstr>INTRODUCTION</vt:lpstr>
      <vt:lpstr>INTRODUCTION</vt:lpstr>
      <vt:lpstr>DATA DESCRIPTON</vt:lpstr>
      <vt:lpstr>METHODOLOGY</vt:lpstr>
      <vt:lpstr>METHODOLOGY</vt:lpstr>
      <vt:lpstr>METHODOLOGY</vt:lpstr>
      <vt:lpstr>METHODOLOGY</vt:lpstr>
      <vt:lpstr>METHODOLOGY</vt:lpstr>
      <vt:lpstr>METHODOLOGY</vt:lpstr>
      <vt:lpstr>ANALYSIS</vt:lpstr>
      <vt:lpstr>ANALYSIS</vt:lpstr>
      <vt:lpstr>ANALYSIS</vt:lpstr>
      <vt:lpstr>ANALYSIS</vt:lpstr>
      <vt:lpstr>STRATEGIC INSIGHTS</vt:lpstr>
      <vt:lpstr>Strategic Recommendations</vt:lpstr>
      <vt:lpstr> Strategic 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STORE INVENTORY FORECAST AN STOCKOUT RISK ANA</dc:title>
  <dc:creator>paschal marculey</dc:creator>
  <cp:lastModifiedBy>paschal marculey</cp:lastModifiedBy>
  <cp:revision>13</cp:revision>
  <dcterms:created xsi:type="dcterms:W3CDTF">2026-06-28T16:10:21Z</dcterms:created>
  <dcterms:modified xsi:type="dcterms:W3CDTF">2026-06-28T18:46:37Z</dcterms:modified>
</cp:coreProperties>
</file>